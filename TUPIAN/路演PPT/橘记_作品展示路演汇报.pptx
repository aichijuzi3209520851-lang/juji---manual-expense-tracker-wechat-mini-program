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0F1F19"/>
          </a:solidFill>
          <a:ln w="12700">
            <a:solidFill>
              <a:srgbClr val="0F1F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54680" y="0"/>
            <a:ext cx="5989320" cy="5143500"/>
          </a:xfrm>
          <a:prstGeom prst="rect">
            <a:avLst/>
          </a:prstGeom>
          <a:solidFill>
            <a:srgbClr val="F3FBF7"/>
          </a:solidFill>
          <a:ln w="12700">
            <a:solidFill>
              <a:srgbClr val="F3FB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13232"/>
            <a:ext cx="19202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JUJI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214884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大模型驱动的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对话式智能记账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66928" y="3438144"/>
            <a:ext cx="2194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打开就记，记完就走。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陪伴你的是 AI 助手「小橘」。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66928" y="4315968"/>
            <a:ext cx="1243584" cy="329184"/>
          </a:xfrm>
          <a:prstGeom prst="roundRect">
            <a:avLst>
              <a:gd name="adj" fmla="val 44444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07408"/>
            <a:ext cx="10972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竞赛路演汇报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11880" y="502920"/>
            <a:ext cx="1691640" cy="3931920"/>
          </a:xfrm>
          <a:prstGeom prst="roundRect">
            <a:avLst>
              <a:gd name="adj" fmla="val 15135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539496"/>
            <a:ext cx="1618488" cy="3858768"/>
          </a:xfrm>
          <a:prstGeom prst="roundRect">
            <a:avLst>
              <a:gd name="adj" fmla="val 141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首页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43319"/>
            <a:ext cx="1600200" cy="34511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776472" y="4050792"/>
            <a:ext cx="136245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9624" y="4105656"/>
            <a:ext cx="12161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57800" y="685800"/>
            <a:ext cx="1737360" cy="4069080"/>
          </a:xfrm>
          <a:prstGeom prst="roundRect">
            <a:avLst>
              <a:gd name="adj" fmla="val 14737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94376" y="722376"/>
            <a:ext cx="1664208" cy="3995928"/>
          </a:xfrm>
          <a:prstGeom prst="roundRect">
            <a:avLst>
              <a:gd name="adj" fmla="val 137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记一笔界面展示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09693"/>
            <a:ext cx="1645920" cy="342129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22392" y="4370832"/>
            <a:ext cx="140817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95544" y="4425696"/>
            <a:ext cx="12618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821424" y="384048"/>
            <a:ext cx="1783080" cy="4160520"/>
          </a:xfrm>
          <a:prstGeom prst="roundRect">
            <a:avLst>
              <a:gd name="adj" fmla="val 1435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0" y="420624"/>
            <a:ext cx="1709928" cy="4087368"/>
          </a:xfrm>
          <a:prstGeom prst="roundRect">
            <a:avLst>
              <a:gd name="adj" fmla="val 133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2" descr="小橘帮忙记账的界面展示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657418"/>
            <a:ext cx="1691640" cy="3613781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86016" y="4160520"/>
            <a:ext cx="145389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59168" y="4215384"/>
            <a:ext cx="130759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 AI</a:t>
            </a:r>
            <a:endParaRPr lang="en-US" sz="850" dirty="0"/>
          </a:p>
        </p:txBody>
      </p:sp>
      <p:pic>
        <p:nvPicPr>
          <p:cNvPr id="25" name="Image 3" descr="小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475488"/>
            <a:ext cx="1078992" cy="11430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138160" y="566928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339328" y="566928"/>
            <a:ext cx="164592" cy="164592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EAF8F1"/>
          </a:solidFill>
          <a:ln w="8890">
            <a:solidFill>
              <a:srgbClr val="EAF8F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C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作品定位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为什么做橘记，以及它解决什么问题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FFF0D5"/>
          </a:solidFill>
          <a:ln w="8890">
            <a:solidFill>
              <a:srgbClr val="FFF0D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478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产品体验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从记一笔到复盘、预算和成长体系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304288" cy="1234440"/>
          </a:xfrm>
          <a:prstGeom prst="roundRect">
            <a:avLst>
              <a:gd name="adj" fmla="val 13333"/>
            </a:avLst>
          </a:prstGeom>
          <a:solidFill>
            <a:srgbClr val="E8F5FB"/>
          </a:solidFill>
          <a:ln w="8890">
            <a:solidFill>
              <a:srgbClr val="E8F5F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A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1072" y="1892808"/>
            <a:ext cx="19751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203704"/>
            <a:ext cx="19751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小橘聊天、问账、对话记账的闭环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999232"/>
            <a:ext cx="2880360" cy="1234440"/>
          </a:xfrm>
          <a:prstGeom prst="roundRect">
            <a:avLst>
              <a:gd name="adj" fmla="val 13333"/>
            </a:avLst>
          </a:prstGeom>
          <a:solidFill>
            <a:srgbClr val="F0ECFF"/>
          </a:solidFill>
          <a:ln w="8890">
            <a:solidFill>
              <a:srgbClr val="F0EC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163824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" y="3566160"/>
            <a:ext cx="255117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3877056"/>
            <a:ext cx="255117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 + CloudBase + 混元模型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999232"/>
            <a:ext cx="2880360" cy="1234440"/>
          </a:xfrm>
          <a:prstGeom prst="roundRect">
            <a:avLst>
              <a:gd name="adj" fmla="val 13333"/>
            </a:avLst>
          </a:prstGeom>
          <a:solidFill>
            <a:srgbClr val="FFF0F5"/>
          </a:solidFill>
          <a:ln w="8890">
            <a:solidFill>
              <a:srgbClr val="FFF0F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3163824"/>
            <a:ext cx="5852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47872" y="3566160"/>
            <a:ext cx="255117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47872" y="3877056"/>
            <a:ext cx="255117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作品价值、工程完整度与后续规划</a:t>
            </a:r>
            <a:endParaRPr lang="en-US" sz="950" dirty="0"/>
          </a:p>
        </p:txBody>
      </p:sp>
      <p:pic>
        <p:nvPicPr>
          <p:cNvPr id="28" name="Image 0" descr="小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2761488"/>
            <a:ext cx="1005840" cy="10607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8368" y="4462272"/>
            <a:ext cx="6949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路线逻辑：先让评委看到作品能解决问题，再展示它为什么有技术含量。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为什么还需要一个记账工具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243584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27C07D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4081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97864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手动麻烦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7864" y="1719072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每天打开表单逐项输入，习惯很难长期坚持。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337560" y="1243584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FF9F1C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02152" y="140817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41064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复盘薄弱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41064" y="1719072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只有流水和饼图，缺少可读的消费反馈。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94360" y="2724912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5BA4CB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2889504"/>
            <a:ext cx="329184" cy="329184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7180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97864" y="2889504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缺少陪伴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97864" y="3200400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传统记账工具像账本，不像能交流的助手。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337560" y="2724912"/>
            <a:ext cx="2450592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8B5CF6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02152" y="288950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97180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41064" y="2889504"/>
            <a:ext cx="1508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安全顾虑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41064" y="3200400"/>
            <a:ext cx="15910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消费数据敏感，需要清晰的数据隔离和权限设计。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00800" y="932688"/>
            <a:ext cx="1783080" cy="3886200"/>
          </a:xfrm>
          <a:prstGeom prst="roundRect">
            <a:avLst>
              <a:gd name="adj" fmla="val 1435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37376" y="969264"/>
            <a:ext cx="1709928" cy="3813048"/>
          </a:xfrm>
          <a:prstGeom prst="roundRect">
            <a:avLst>
              <a:gd name="adj" fmla="val 133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0" descr="首页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51623"/>
            <a:ext cx="1691640" cy="364833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565392" y="4434840"/>
            <a:ext cx="145389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38544" y="4489704"/>
            <a:ext cx="130759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真实账单流水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58368" y="4370832"/>
            <a:ext cx="517550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用户不是不想记账，而是不想为了记账付出过高成本。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橘记的解决方案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11296" y="1325880"/>
            <a:ext cx="2084832" cy="2084832"/>
          </a:xfrm>
          <a:prstGeom prst="roundRect">
            <a:avLst>
              <a:gd name="adj" fmla="val 12281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5000"/>
              </a:srgbClr>
            </a:outerShdw>
          </a:effectLst>
        </p:spPr>
      </p:sp>
      <p:pic>
        <p:nvPicPr>
          <p:cNvPr id="9" name="Image 0" descr="小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591056"/>
            <a:ext cx="987552" cy="10424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12464" y="2706624"/>
            <a:ext cx="166420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 AI 助手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767328" y="2999232"/>
            <a:ext cx="1554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把记账变成对话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13232" y="1133856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27C07D">
                <a:alpha val="7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6112" y="1298448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打开就记</a:t>
            </a:r>
            <a:endParaRPr lang="en-US" sz="1430" dirty="0"/>
          </a:p>
        </p:txBody>
      </p:sp>
      <p:sp>
        <p:nvSpPr>
          <p:cNvPr id="14" name="Text 11"/>
          <p:cNvSpPr/>
          <p:nvPr/>
        </p:nvSpPr>
        <p:spPr>
          <a:xfrm>
            <a:off x="896112" y="1609344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首页与记账页信息密度低，核心动作一步到位。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144768" y="1133856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FF9F1C">
                <a:alpha val="7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27648" y="1298448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动嘴记账</a:t>
            </a:r>
            <a:endParaRPr lang="en-US" sz="1430" dirty="0"/>
          </a:p>
        </p:txBody>
      </p:sp>
      <p:sp>
        <p:nvSpPr>
          <p:cNvPr id="17" name="Text 14"/>
          <p:cNvSpPr/>
          <p:nvPr/>
        </p:nvSpPr>
        <p:spPr>
          <a:xfrm>
            <a:off x="6327648" y="1609344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一句口语拆成多笔账单，确认后批量写入。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13232" y="3127248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5BA4CB">
                <a:alpha val="7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6112" y="3291840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自动复盘</a:t>
            </a:r>
            <a:endParaRPr lang="en-US" sz="1430" dirty="0"/>
          </a:p>
        </p:txBody>
      </p:sp>
      <p:sp>
        <p:nvSpPr>
          <p:cNvPr id="20" name="Text 17"/>
          <p:cNvSpPr/>
          <p:nvPr/>
        </p:nvSpPr>
        <p:spPr>
          <a:xfrm>
            <a:off x="896112" y="3602736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趋势、排行、AI 便签让流水变成反馈。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144768" y="3127248"/>
            <a:ext cx="199339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27648" y="3291840"/>
            <a:ext cx="15179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</a:t>
            </a:r>
            <a:endParaRPr lang="en-US" sz="1430" dirty="0"/>
          </a:p>
        </p:txBody>
      </p:sp>
      <p:sp>
        <p:nvSpPr>
          <p:cNvPr id="23" name="Text 20"/>
          <p:cNvSpPr/>
          <p:nvPr/>
        </p:nvSpPr>
        <p:spPr>
          <a:xfrm>
            <a:off x="6327648" y="3602736"/>
            <a:ext cx="15910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足迹、称号、心里话和主题让用户愿意留下。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2697480" y="1627632"/>
            <a:ext cx="685800" cy="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1627632"/>
            <a:ext cx="502920" cy="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97480" y="3611880"/>
            <a:ext cx="685800" cy="-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23560" y="3611880"/>
            <a:ext cx="502920" cy="-502920"/>
          </a:xfrm>
          <a:prstGeom prst="line">
            <a:avLst/>
          </a:prstGeom>
          <a:noFill/>
          <a:ln w="15240">
            <a:solidFill>
              <a:srgbClr val="CFE5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产品功能全景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078992"/>
            <a:ext cx="1993392" cy="3840480"/>
          </a:xfrm>
          <a:prstGeom prst="roundRect">
            <a:avLst>
              <a:gd name="adj" fmla="val 12844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115568"/>
            <a:ext cx="1920240" cy="376732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前端页面示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747" y="1124712"/>
            <a:ext cx="1759753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4535424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590288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71800" y="1078992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9816" y="1197864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3666744" y="1197864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静默登录 / OPENID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22392" y="1078992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50408" y="1197864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6117336" y="1197864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 onboarding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71800" y="1773936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99816" y="1892808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3666744" y="1892808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 + 流水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22392" y="1773936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0408" y="1892808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6117336" y="1892808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 + AI 便签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71800" y="246888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99816" y="2587752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3666744" y="2587752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+ 图片 + 心情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22392" y="246888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0408" y="2587752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117336" y="2587752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进度环 + 节奏建议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971800" y="3163824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99816" y="3282696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3666744" y="3282696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 + AI 信件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22392" y="3163824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50408" y="3282696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6117336" y="3282696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自创分类 CRUD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971800" y="385876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99816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3666744" y="3977640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Token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22392" y="385876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0408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6117336" y="3977640"/>
            <a:ext cx="12344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手账风格账单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818120" y="1078992"/>
            <a:ext cx="804672" cy="3291840"/>
          </a:xfrm>
          <a:prstGeom prst="roundRect">
            <a:avLst>
              <a:gd name="adj" fmla="val 18182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936992" y="1298448"/>
            <a:ext cx="5486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混元模型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2971800" y="4498848"/>
            <a:ext cx="4114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前端体验完整，后端能力闭环。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用户使用旅程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" y="1207008"/>
            <a:ext cx="1060704" cy="2148840"/>
          </a:xfrm>
          <a:prstGeom prst="roundRect">
            <a:avLst>
              <a:gd name="adj" fmla="val 2413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前端页面示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269" y="1252728"/>
            <a:ext cx="965718" cy="2057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4672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448056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引导理解产品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1627632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12848" y="1207008"/>
            <a:ext cx="1060704" cy="2148840"/>
          </a:xfrm>
          <a:prstGeom prst="roundRect">
            <a:avLst>
              <a:gd name="adj" fmla="val 2413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49424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记一笔界面展示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274047"/>
            <a:ext cx="969264" cy="201476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377440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50592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23744" y="3529584"/>
            <a:ext cx="384048" cy="38404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23744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0" dirty="0"/>
          </a:p>
        </p:txBody>
      </p:sp>
      <p:sp>
        <p:nvSpPr>
          <p:cNvPr id="24" name="Text 20"/>
          <p:cNvSpPr/>
          <p:nvPr/>
        </p:nvSpPr>
        <p:spPr>
          <a:xfrm>
            <a:off x="2167128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手动或对话录入</a:t>
            </a:r>
            <a:endParaRPr lang="en-US" sz="840" dirty="0"/>
          </a:p>
        </p:txBody>
      </p:sp>
      <p:sp>
        <p:nvSpPr>
          <p:cNvPr id="25" name="Shape 21"/>
          <p:cNvSpPr/>
          <p:nvPr/>
        </p:nvSpPr>
        <p:spPr>
          <a:xfrm>
            <a:off x="3346704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931920" y="1207008"/>
            <a:ext cx="1060704" cy="2148840"/>
          </a:xfrm>
          <a:prstGeom prst="roundRect">
            <a:avLst>
              <a:gd name="adj" fmla="val 2413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968496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2" descr="首页展示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289" y="1252728"/>
            <a:ext cx="953965" cy="20574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096512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169664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242816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242816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0" dirty="0"/>
          </a:p>
        </p:txBody>
      </p:sp>
      <p:sp>
        <p:nvSpPr>
          <p:cNvPr id="33" name="Text 28"/>
          <p:cNvSpPr/>
          <p:nvPr/>
        </p:nvSpPr>
        <p:spPr>
          <a:xfrm>
            <a:off x="3886200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首页看预算与流水</a:t>
            </a:r>
            <a:endParaRPr lang="en-US" sz="840" dirty="0"/>
          </a:p>
        </p:txBody>
      </p:sp>
      <p:sp>
        <p:nvSpPr>
          <p:cNvPr id="34" name="Shape 29"/>
          <p:cNvSpPr/>
          <p:nvPr/>
        </p:nvSpPr>
        <p:spPr>
          <a:xfrm>
            <a:off x="5065776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650992" y="1207008"/>
            <a:ext cx="1060704" cy="2148840"/>
          </a:xfrm>
          <a:prstGeom prst="roundRect">
            <a:avLst>
              <a:gd name="adj" fmla="val 2413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687568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3" descr="统计页面展示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85" y="1252728"/>
            <a:ext cx="965718" cy="205740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815584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888736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961888" y="3529584"/>
            <a:ext cx="384048" cy="38404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961888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0" dirty="0"/>
          </a:p>
        </p:txBody>
      </p:sp>
      <p:sp>
        <p:nvSpPr>
          <p:cNvPr id="42" name="Text 36"/>
          <p:cNvSpPr/>
          <p:nvPr/>
        </p:nvSpPr>
        <p:spPr>
          <a:xfrm>
            <a:off x="5605272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趋势排行与 AI 便签</a:t>
            </a:r>
            <a:endParaRPr lang="en-US" sz="840" dirty="0"/>
          </a:p>
        </p:txBody>
      </p:sp>
      <p:sp>
        <p:nvSpPr>
          <p:cNvPr id="43" name="Shape 37"/>
          <p:cNvSpPr/>
          <p:nvPr/>
        </p:nvSpPr>
        <p:spPr>
          <a:xfrm>
            <a:off x="6784848" y="2231136"/>
            <a:ext cx="219456" cy="347472"/>
          </a:xfrm>
          <a:prstGeom prst="chevron">
            <a:avLst/>
          </a:prstGeom>
          <a:solidFill>
            <a:srgbClr val="CFE5D8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370064" y="1207008"/>
            <a:ext cx="1060704" cy="2148840"/>
          </a:xfrm>
          <a:prstGeom prst="roundRect">
            <a:avLst>
              <a:gd name="adj" fmla="val 2413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7406640" y="1243584"/>
            <a:ext cx="987552" cy="2075688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4" descr="我的页面展示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1257823"/>
            <a:ext cx="969264" cy="204721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7534656" y="2971800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607808" y="3026664"/>
            <a:ext cx="5852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7680960" y="3529584"/>
            <a:ext cx="384048" cy="384048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680960" y="3630168"/>
            <a:ext cx="38404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0" dirty="0"/>
          </a:p>
        </p:txBody>
      </p:sp>
      <p:sp>
        <p:nvSpPr>
          <p:cNvPr id="51" name="Text 44"/>
          <p:cNvSpPr/>
          <p:nvPr/>
        </p:nvSpPr>
        <p:spPr>
          <a:xfrm>
            <a:off x="7324344" y="3986784"/>
            <a:ext cx="11704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足迹、称号、心里话</a:t>
            </a:r>
            <a:endParaRPr lang="en-US" sz="840" dirty="0"/>
          </a:p>
        </p:txBody>
      </p:sp>
      <p:sp>
        <p:nvSpPr>
          <p:cNvPr id="52" name="Text 45"/>
          <p:cNvSpPr/>
          <p:nvPr/>
        </p:nvSpPr>
        <p:spPr>
          <a:xfrm>
            <a:off x="658368" y="4507992"/>
            <a:ext cx="66751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设计目标：把“记账”从单次输入，延展成可持续的习惯养成路径。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首页体验：一眼看懂消费状态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960120"/>
            <a:ext cx="2084832" cy="3968496"/>
          </a:xfrm>
          <a:prstGeom prst="roundRect">
            <a:avLst>
              <a:gd name="adj" fmla="val 12281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996696"/>
            <a:ext cx="2011680" cy="3895344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首页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25" y="1005840"/>
            <a:ext cx="1797695" cy="38770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44568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599432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54680" y="1143000"/>
            <a:ext cx="14173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64408" y="1289304"/>
            <a:ext cx="11978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 / 昨日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27832" y="1618488"/>
            <a:ext cx="12710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消费双数字卡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773168" y="1143000"/>
            <a:ext cx="16459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82896" y="1289304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预算进度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46320" y="1618488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未设 / 正常 / 超支三态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611112" y="1143000"/>
            <a:ext cx="14173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0840" y="1289304"/>
            <a:ext cx="11978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30 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84264" y="1618488"/>
            <a:ext cx="12710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按日分组流水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163824" y="235000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63824" y="245973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10128" y="2496312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94176" y="233172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 hero 卡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3694176" y="260604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首屏直接呈现今天与昨天消费，降低信息寻找成本。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163824" y="308152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63824" y="319125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310128" y="3227832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94176" y="306324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预算提醒</a:t>
            </a:r>
            <a:endParaRPr lang="en-US" sz="1380" dirty="0"/>
          </a:p>
        </p:txBody>
      </p:sp>
      <p:sp>
        <p:nvSpPr>
          <p:cNvPr id="31" name="Text 28"/>
          <p:cNvSpPr/>
          <p:nvPr/>
        </p:nvSpPr>
        <p:spPr>
          <a:xfrm>
            <a:off x="3694176" y="333756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预算进度条让用户在首页就能知道是否接近超支。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163824" y="3813048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63824" y="392277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310128" y="3959352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94176" y="379476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账单流水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3694176" y="4069080"/>
            <a:ext cx="39502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按日分组、显示当日净额，点击进入手账风详情页。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记一笔体验：低阻力输入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37376" y="896112"/>
            <a:ext cx="1938528" cy="4041648"/>
          </a:xfrm>
          <a:prstGeom prst="roundRect">
            <a:avLst>
              <a:gd name="adj" fmla="val 1320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记一笔界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096" y="997210"/>
            <a:ext cx="1847088" cy="383945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0196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" y="1170432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28" y="1335024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141732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25296" y="1316736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 / 支双模式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25296" y="1609344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滑块切换，入口清晰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3447288" y="1170432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84448" y="1335024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4448" y="1417320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014216" y="1316736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金额大字输入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014216" y="1609344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核心数字突出，减少误读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58368" y="2157984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5528" y="23225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24048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225296" y="2304288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分类网格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25296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个预设 + 自创分类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3447288" y="2157984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584448" y="232257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84448" y="24048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014216" y="2304288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照片与心情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014216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让账单变成生活记录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658368" y="3145536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95528" y="331012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" y="339242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25296" y="3291840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防抖与日上限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225296" y="3584448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秒保存防抖，500 笔/天限制</a:t>
            </a:r>
            <a:endParaRPr lang="en-US" sz="970" dirty="0"/>
          </a:p>
        </p:txBody>
      </p:sp>
      <p:sp>
        <p:nvSpPr>
          <p:cNvPr id="38" name="Shape 35"/>
          <p:cNvSpPr/>
          <p:nvPr/>
        </p:nvSpPr>
        <p:spPr>
          <a:xfrm>
            <a:off x="3447288" y="3145536"/>
            <a:ext cx="23957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584448" y="3310128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84448" y="339242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014216" y="3291840"/>
            <a:ext cx="16824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014216" y="3584448"/>
            <a:ext cx="16824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写入前再次检查金额、日期、分类</a:t>
            </a:r>
            <a:endParaRPr lang="en-US" sz="970" dirty="0"/>
          </a:p>
        </p:txBody>
      </p:sp>
      <p:sp>
        <p:nvSpPr>
          <p:cNvPr id="43" name="Text 40"/>
          <p:cNvSpPr/>
          <p:nvPr/>
        </p:nvSpPr>
        <p:spPr>
          <a:xfrm>
            <a:off x="768096" y="4443984"/>
            <a:ext cx="5212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体验策略：把“必填项”前置，把“情绪和照片”做成可选表达。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小橘对话记账：从一句话到多笔账单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94944" y="896112"/>
            <a:ext cx="2029968" cy="4041648"/>
          </a:xfrm>
          <a:prstGeom prst="roundRect">
            <a:avLst>
              <a:gd name="adj" fmla="val 1261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932688"/>
            <a:ext cx="1956816" cy="3968496"/>
          </a:xfrm>
          <a:prstGeom prst="roundRect">
            <a:avLst>
              <a:gd name="adj" fmla="val 116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小橘帮忙记账的界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366" y="941832"/>
            <a:ext cx="1849124" cy="39502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9536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对话记账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82112" y="1051560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1216152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1298448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749040" y="1197864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用户口语输入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1490472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如“中午吃饭 20，打印文件 5 元”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5486400" y="1709928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82112" y="1892808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19272" y="2057400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9272" y="2139696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749040" y="2039112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结构化解析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749040" y="2331720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intent / reply / bills 严格 JSON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5486400" y="2551176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82112" y="2734056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19272" y="289864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9272" y="2980944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749040" y="2880360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用户确认卡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749040" y="3172968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金额、备注可编辑，可删除行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5486400" y="3392424"/>
            <a:ext cx="0" cy="164592"/>
          </a:xfrm>
          <a:prstGeom prst="line">
            <a:avLst/>
          </a:prstGeom>
          <a:noFill/>
          <a:ln w="12700">
            <a:solidFill>
              <a:srgbClr val="CFE5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82112" y="3575304"/>
            <a:ext cx="490118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319272" y="373989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9272" y="382219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749040" y="3721608"/>
            <a:ext cx="4187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批量写入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49040" y="4014216"/>
            <a:ext cx="41879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bills.batchCreate，单次最多 10 笔</a:t>
            </a:r>
            <a:endParaRPr lang="en-US" sz="970" dirty="0"/>
          </a:p>
        </p:txBody>
      </p:sp>
      <p:sp>
        <p:nvSpPr>
          <p:cNvPr id="36" name="Shape 33"/>
          <p:cNvSpPr/>
          <p:nvPr/>
        </p:nvSpPr>
        <p:spPr>
          <a:xfrm>
            <a:off x="3182112" y="4407408"/>
            <a:ext cx="4901184" cy="347472"/>
          </a:xfrm>
          <a:prstGeom prst="roundRect">
            <a:avLst>
              <a:gd name="adj" fmla="val 31579"/>
            </a:avLst>
          </a:prstGeom>
          <a:solidFill>
            <a:srgbClr val="FFF0D5"/>
          </a:solidFill>
          <a:ln w="8890">
            <a:solidFill>
              <a:srgbClr val="FFF0D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10128" y="4507992"/>
            <a:ext cx="460857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核心创新：AI 负责理解口语，用户保留最终确认权，服务端兜底校验。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小橘账单问答：AI 不编数字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0" y="896112"/>
            <a:ext cx="1938528" cy="4041648"/>
          </a:xfrm>
          <a:prstGeom prst="roundRect">
            <a:avLst>
              <a:gd name="adj" fmla="val 1320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37376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小橘对话界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949573"/>
            <a:ext cx="1847088" cy="393472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账单问答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6656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问题示例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" y="1591056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645920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这周花了多少钱？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32888" y="1591056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1645920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本月哪类花得最多？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8368" y="2066544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2121408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这周比上周省了多少？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32888" y="2066544"/>
            <a:ext cx="1600200" cy="256032"/>
          </a:xfrm>
          <a:prstGeom prst="roundRect">
            <a:avLst>
              <a:gd name="adj" fmla="val 46429"/>
            </a:avLst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6040" y="2121408"/>
            <a:ext cx="14538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今天记了几笔？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8368" y="2761488"/>
            <a:ext cx="521208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77824" y="2944368"/>
            <a:ext cx="10972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工程策略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77824" y="3328416"/>
            <a:ext cx="473659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解析时间范围和问题类型 → 云函数查询 bills → 确定性计算金额 / 分类 / 笔数 → AI 用自然语言表达结果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4261104"/>
            <a:ext cx="5212080" cy="411480"/>
          </a:xfrm>
          <a:prstGeom prst="roundRect">
            <a:avLst>
              <a:gd name="adj" fmla="val 31111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77824" y="4407408"/>
            <a:ext cx="47548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让大模型参与表达，不让它决定账本里的数字。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统计复盘：从流水到反馈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896112"/>
            <a:ext cx="1938528" cy="4041648"/>
          </a:xfrm>
          <a:prstGeom prst="roundRect">
            <a:avLst>
              <a:gd name="adj" fmla="val 13208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932688"/>
            <a:ext cx="1865376" cy="3968496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统计页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949386"/>
            <a:ext cx="1847088" cy="393510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统计页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816352" y="987552"/>
            <a:ext cx="1874520" cy="3858768"/>
          </a:xfrm>
          <a:prstGeom prst="roundRect">
            <a:avLst>
              <a:gd name="adj" fmla="val 13659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52928" y="1024128"/>
            <a:ext cx="1801368" cy="3785616"/>
          </a:xfrm>
          <a:prstGeom prst="roundRect">
            <a:avLst>
              <a:gd name="adj" fmla="val 126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小橘的便签展示界面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416" y="1033272"/>
            <a:ext cx="1780393" cy="37673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80944" y="4462272"/>
            <a:ext cx="1545336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54096" y="4517136"/>
            <a:ext cx="139903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小橘便签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230368" y="134416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30368" y="145389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76672" y="1490472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132588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趋势折线</a:t>
            </a:r>
            <a:endParaRPr lang="en-US" sz="1380" dirty="0"/>
          </a:p>
        </p:txBody>
      </p:sp>
      <p:sp>
        <p:nvSpPr>
          <p:cNvPr id="22" name="Text 18"/>
          <p:cNvSpPr/>
          <p:nvPr/>
        </p:nvSpPr>
        <p:spPr>
          <a:xfrm>
            <a:off x="5760720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30 天消费变化直观呈现，当前值与均值对比。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230368" y="2121408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223113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376672" y="2267712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0" y="210312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支出排行</a:t>
            </a:r>
            <a:endParaRPr lang="en-US" sz="1380" dirty="0"/>
          </a:p>
        </p:txBody>
      </p:sp>
      <p:sp>
        <p:nvSpPr>
          <p:cNvPr id="27" name="Text 23"/>
          <p:cNvSpPr/>
          <p:nvPr/>
        </p:nvSpPr>
        <p:spPr>
          <a:xfrm>
            <a:off x="576072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分类金额与占比进度条，帮助用户理解钱去哪了。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230368" y="289864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30368" y="300837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376672" y="3044952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60720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便签</a:t>
            </a:r>
            <a:endParaRPr lang="en-US" sz="1380" dirty="0"/>
          </a:p>
        </p:txBody>
      </p:sp>
      <p:sp>
        <p:nvSpPr>
          <p:cNvPr id="32" name="Text 28"/>
          <p:cNvSpPr/>
          <p:nvPr/>
        </p:nvSpPr>
        <p:spPr>
          <a:xfrm>
            <a:off x="5760720" y="315468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 / 上周 / 上月三张评论卡，缓存 periodKey，失败可重试。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230368" y="3675888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230368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376672" y="38221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60720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退避重试</a:t>
            </a:r>
            <a:endParaRPr lang="en-US" sz="1380" dirty="0"/>
          </a:p>
        </p:txBody>
      </p:sp>
      <p:sp>
        <p:nvSpPr>
          <p:cNvPr id="37" name="Text 33"/>
          <p:cNvSpPr/>
          <p:nvPr/>
        </p:nvSpPr>
        <p:spPr>
          <a:xfrm>
            <a:off x="576072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 streamText 串行调用，429 时指数退避。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我的成长体系：把记账变成长期陪伴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896112"/>
            <a:ext cx="1920240" cy="4041648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932688"/>
            <a:ext cx="1847088" cy="3968496"/>
          </a:xfrm>
          <a:prstGeom prst="roundRect">
            <a:avLst>
              <a:gd name="adj" fmla="val 123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我的页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985606"/>
            <a:ext cx="1828800" cy="38626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我的页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97480" y="896112"/>
            <a:ext cx="1920240" cy="4041648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34056" y="932688"/>
            <a:ext cx="1847088" cy="3968496"/>
          </a:xfrm>
          <a:prstGeom prst="roundRect">
            <a:avLst>
              <a:gd name="adj" fmla="val 123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小橘心里话功能界面展示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58116"/>
            <a:ext cx="1828800" cy="391763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62072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35224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心里话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36592" y="1078992"/>
            <a:ext cx="1700784" cy="3657600"/>
          </a:xfrm>
          <a:prstGeom prst="roundRect">
            <a:avLst>
              <a:gd name="adj" fmla="val 15054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73168" y="1115568"/>
            <a:ext cx="1627632" cy="3584448"/>
          </a:xfrm>
          <a:prstGeom prst="roundRect">
            <a:avLst>
              <a:gd name="adj" fmla="val 140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称号数据展示界面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189148"/>
            <a:ext cx="1609344" cy="343728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901184" y="4352544"/>
            <a:ext cx="137160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74336" y="4407408"/>
            <a:ext cx="12252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今日称号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839712" y="113385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27C07D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022592" y="131673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记账足迹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39712" y="213969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FF9F1C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22592" y="232257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信件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839712" y="3145536"/>
            <a:ext cx="1627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890">
            <a:solidFill>
              <a:srgbClr val="5BA4CB">
                <a:alpha val="75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022592" y="3328416"/>
            <a:ext cx="11338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每日称号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1722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从“记录消费”升级为“记录生活状态”。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主题个性化：Design Token 驱动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896112"/>
            <a:ext cx="1901952" cy="4041648"/>
          </a:xfrm>
          <a:prstGeom prst="roundRect">
            <a:avLst>
              <a:gd name="adj" fmla="val 13462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397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932688"/>
            <a:ext cx="1828800" cy="39684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主题选择与设置界面展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010915"/>
            <a:ext cx="1810512" cy="381204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1248" y="4553712"/>
            <a:ext cx="1554480" cy="256032"/>
          </a:xfrm>
          <a:prstGeom prst="roundRect">
            <a:avLst>
              <a:gd name="adj" fmla="val 4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08576"/>
            <a:ext cx="14081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C0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主题选择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44368" y="1060704"/>
            <a:ext cx="5440680" cy="914400"/>
          </a:xfrm>
          <a:prstGeom prst="roundRect">
            <a:avLst>
              <a:gd name="adj" fmla="val 18000"/>
            </a:avLst>
          </a:prstGeom>
          <a:solidFill>
            <a:srgbClr val="EAF8F1"/>
          </a:solidFill>
          <a:ln w="8890">
            <a:solidFill>
              <a:srgbClr val="EAF8F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82112" y="1261872"/>
            <a:ext cx="15087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CSS 变量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28032" y="1243584"/>
            <a:ext cx="3154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颜色、渐变、阴影、字号、语义色集中管理，页面统一注入 themeStyle。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2944368" y="2249424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72384" y="2423160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377440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3401568" y="2578608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#27c07d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87568" y="2249424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15584" y="2423160"/>
            <a:ext cx="228600" cy="228600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2377440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--color-accent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6144768" y="2578608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#5ba4cb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944368" y="3090672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072384" y="3264408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01568" y="32186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--gradient-hero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3401568" y="3419856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→ accent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87568" y="3090672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15584" y="3264408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4768" y="32186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--shadow-card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144768" y="3419856"/>
            <a:ext cx="1463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 + 深影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962656" y="4224528"/>
            <a:ext cx="5303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套预设主题 + 8 色自定义调色板 + 最多 5 个用户命名主题。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85216" y="512064"/>
            <a:ext cx="274320" cy="27432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603504"/>
            <a:ext cx="23774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4206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 + CloudBase Serverless + 腾讯混元大模型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75504" y="841248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43027"/>
          </a:solidFill>
          <a:ln w="8890">
            <a:solidFill>
              <a:srgbClr val="24483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76672" y="987552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89904" y="987552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/ WXSS / JS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175504" y="1645920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8322A"/>
          </a:solidFill>
          <a:ln w="8890">
            <a:solidFill>
              <a:srgbClr val="24483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76672" y="1792224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89904" y="179222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个有效云函数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175504" y="2450592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43027"/>
          </a:solidFill>
          <a:ln w="8890">
            <a:solidFill>
              <a:srgbClr val="24483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76672" y="2596896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089904" y="2596896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/ 云存储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175504" y="3255264"/>
            <a:ext cx="3154680" cy="530352"/>
          </a:xfrm>
          <a:prstGeom prst="roundRect">
            <a:avLst>
              <a:gd name="adj" fmla="val 20690"/>
            </a:avLst>
          </a:prstGeom>
          <a:solidFill>
            <a:srgbClr val="18322A"/>
          </a:solidFill>
          <a:ln w="8890">
            <a:solidFill>
              <a:srgbClr val="24483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76672" y="3401568"/>
            <a:ext cx="594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89904" y="3401568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hy3-preview / 内容安全</a:t>
            </a:r>
            <a:endParaRPr lang="en-US" sz="1060" dirty="0"/>
          </a:p>
        </p:txBody>
      </p:sp>
      <p:pic>
        <p:nvPicPr>
          <p:cNvPr id="20" name="Image 0" descr="小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3611880"/>
            <a:ext cx="950976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系统五层架构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" y="987552"/>
            <a:ext cx="6126480" cy="3767328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9" name="Image 0" descr="图2-1_橘记系统五层架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02" y="987552"/>
            <a:ext cx="5297805" cy="3767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12864" y="1133856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8F5FB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59168" y="1261872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99248" y="1252728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个页面 + 自定义 TabBar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6912864" y="1920240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59168" y="2048256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99248" y="203911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 / eventBus / validate / monitor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6912864" y="2706624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8F5FB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34640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99248" y="2825496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账单、预算、AI、迁移、内容安全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6912864" y="3493008"/>
            <a:ext cx="1664208" cy="566928"/>
          </a:xfrm>
          <a:prstGeom prst="roundRect">
            <a:avLst>
              <a:gd name="adj" fmla="val 19355"/>
            </a:avLst>
          </a:prstGeom>
          <a:solidFill>
            <a:srgbClr val="EAF8F1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59168" y="3621024"/>
            <a:ext cx="67665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7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99248" y="361188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+ 云存储 + 混元模型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数据访问设计：读写分离 + OPENID 隔离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950976"/>
            <a:ext cx="585216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9" name="Image 0" descr="图2-1_数据访问架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22" y="950976"/>
            <a:ext cx="5355771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56832" y="1133856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1243584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03136" y="1280160"/>
            <a:ext cx="128016" cy="128016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87184" y="1115568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读取路径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7187184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小程序页面直接使用 wx.cloud.database 查询当前用户数据。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56832" y="2103120"/>
            <a:ext cx="420624" cy="420624"/>
          </a:xfrm>
          <a:prstGeom prst="ellipse">
            <a:avLst/>
          </a:prstGeom>
          <a:solidFill>
            <a:srgbClr val="FFF0D5"/>
          </a:solidFill>
          <a:ln w="12700">
            <a:solidFill>
              <a:srgbClr val="FFF0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2212848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03136" y="2249424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87184" y="2084832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写入路径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7187184" y="2359152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新增、修改、删除通过云函数完成服务端校验。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56832" y="3072384"/>
            <a:ext cx="420624" cy="420624"/>
          </a:xfrm>
          <a:prstGeom prst="ellipse">
            <a:avLst/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182112"/>
            <a:ext cx="420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03136" y="3218688"/>
            <a:ext cx="128016" cy="128016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87184" y="3054096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身份来源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7187184" y="3328416"/>
            <a:ext cx="12984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服务端通过 cloud.getWXContext().OPENID 获取身份。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620256" y="4160520"/>
            <a:ext cx="1901952" cy="502920"/>
          </a:xfrm>
          <a:prstGeom prst="roundRect">
            <a:avLst>
              <a:gd name="adj" fmla="val 25455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784848" y="4352544"/>
            <a:ext cx="157276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不信任客户端 openid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工程链路：可控、可确认、可降级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2064" y="932688"/>
            <a:ext cx="6172200" cy="3822192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9" name="Image 0" descr="图6-2_对话记账运行流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415" y="932688"/>
            <a:ext cx="4467497" cy="3822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720" y="124358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27C07D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408176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149047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0648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70648" y="168249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本地正则 + msgSecCheck v2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6903720" y="224942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FF9F1C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414016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249631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470648" y="239572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结构输出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70648" y="268833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JSON + 容错解析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6903720" y="3255264"/>
            <a:ext cx="1627632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8890">
            <a:solidFill>
              <a:srgbClr val="BA1A1A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40880" y="3419856"/>
            <a:ext cx="329184" cy="329184"/>
          </a:xfrm>
          <a:prstGeom prst="ellipse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3502152"/>
            <a:ext cx="32918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70648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失败降级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70648" y="369417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FALLBACK_REPLY，不写入异常账单</a:t>
            </a:r>
            <a:endParaRPr lang="en-US" sz="9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数据模型：5 个集合支撑完整闭环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32688"/>
            <a:ext cx="5943600" cy="3822192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9" name="Image 0" descr="图3-1_数据模型实体关系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980" y="932688"/>
            <a:ext cx="5548343" cy="3822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93408" y="1005840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FF9F1C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39712" y="1097280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bills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699248" y="1051560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账单流水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金额、分类、日期、照片、心情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6693408" y="1700784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5BA4CB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39712" y="1792224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5BA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7699248" y="1746504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预算记录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 upsert，一月一条</a:t>
            </a:r>
            <a:endParaRPr lang="en-US" sz="660" dirty="0"/>
          </a:p>
        </p:txBody>
      </p:sp>
      <p:sp>
        <p:nvSpPr>
          <p:cNvPr id="16" name="Shape 13"/>
          <p:cNvSpPr/>
          <p:nvPr/>
        </p:nvSpPr>
        <p:spPr>
          <a:xfrm>
            <a:off x="6693408" y="239572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27C07D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39712" y="2487168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7C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7699248" y="2441448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用户资料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头像、主题、自定义分类</a:t>
            </a:r>
            <a:endParaRPr lang="en-US" sz="660" dirty="0"/>
          </a:p>
        </p:txBody>
      </p:sp>
      <p:sp>
        <p:nvSpPr>
          <p:cNvPr id="19" name="Shape 16"/>
          <p:cNvSpPr/>
          <p:nvPr/>
        </p:nvSpPr>
        <p:spPr>
          <a:xfrm>
            <a:off x="6693408" y="3090672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8B5CF6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39712" y="3182112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ai_usage_limits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7699248" y="3136392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限流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openid_date_feature 幂等 ID</a:t>
            </a:r>
            <a:endParaRPr lang="en-US" sz="660" dirty="0"/>
          </a:p>
        </p:txBody>
      </p:sp>
      <p:sp>
        <p:nvSpPr>
          <p:cNvPr id="22" name="Shape 19"/>
          <p:cNvSpPr/>
          <p:nvPr/>
        </p:nvSpPr>
        <p:spPr>
          <a:xfrm>
            <a:off x="6693408" y="3785616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890">
            <a:solidFill>
              <a:srgbClr val="FB7299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39712" y="3877056"/>
            <a:ext cx="8961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B7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client_logs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7699248" y="3831336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异常日志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607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前端错误与路由记录</a:t>
            </a:r>
            <a:endParaRPr lang="en-US" sz="6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59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DEPLOYMENT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安全与部署：真实 CloudBase 落地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6448" y="402336"/>
            <a:ext cx="228600" cy="2286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5048" y="402336"/>
            <a:ext cx="228600" cy="228600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9" name="Image 0" descr="云函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09" y="1170432"/>
            <a:ext cx="1318223" cy="804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560320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12" name="Image 1" descr="数据库集合管理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81" y="1170432"/>
            <a:ext cx="1376262" cy="8046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4553712" y="10789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15" name="Image 2" descr="数据权限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952" y="1170432"/>
            <a:ext cx="1366303" cy="8046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45152" y="20665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</a:t>
            </a:r>
            <a:endParaRPr lang="en-US" sz="880" dirty="0"/>
          </a:p>
        </p:txBody>
      </p:sp>
      <p:sp>
        <p:nvSpPr>
          <p:cNvPr id="17" name="Shape 12"/>
          <p:cNvSpPr/>
          <p:nvPr/>
        </p:nvSpPr>
        <p:spPr>
          <a:xfrm>
            <a:off x="566928" y="29077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18" name="Image 3" descr="数据库调用总览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24" y="2999232"/>
            <a:ext cx="1372592" cy="8046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38953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调用概览</a:t>
            </a:r>
            <a:endParaRPr lang="en-US" sz="880" dirty="0"/>
          </a:p>
        </p:txBody>
      </p:sp>
      <p:sp>
        <p:nvSpPr>
          <p:cNvPr id="20" name="Shape 14"/>
          <p:cNvSpPr/>
          <p:nvPr/>
        </p:nvSpPr>
        <p:spPr>
          <a:xfrm>
            <a:off x="2560320" y="2907792"/>
            <a:ext cx="1700784" cy="1225296"/>
          </a:xfrm>
          <a:prstGeom prst="roundRect">
            <a:avLst>
              <a:gd name="adj" fmla="val 8955"/>
            </a:avLst>
          </a:prstGeom>
          <a:solidFill>
            <a:srgbClr val="F5F7F6"/>
          </a:solidFill>
          <a:ln w="8890">
            <a:solidFill>
              <a:srgbClr val="CFE5D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6000"/>
              </a:srgbClr>
            </a:outerShdw>
          </a:effectLst>
        </p:spPr>
      </p:sp>
      <p:pic>
        <p:nvPicPr>
          <p:cNvPr id="21" name="Image 4" descr="存储管理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044" y="2999232"/>
            <a:ext cx="1375336" cy="8046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651760" y="3895344"/>
            <a:ext cx="1508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1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</a:t>
            </a:r>
            <a:endParaRPr lang="en-US" sz="880" dirty="0"/>
          </a:p>
        </p:txBody>
      </p:sp>
      <p:sp>
        <p:nvSpPr>
          <p:cNvPr id="23" name="Shape 16"/>
          <p:cNvSpPr/>
          <p:nvPr/>
        </p:nvSpPr>
        <p:spPr>
          <a:xfrm>
            <a:off x="6711696" y="1152144"/>
            <a:ext cx="1828800" cy="3401568"/>
          </a:xfrm>
          <a:prstGeom prst="roundRect">
            <a:avLst>
              <a:gd name="adj" fmla="val 9000"/>
            </a:avLst>
          </a:prstGeom>
          <a:solidFill>
            <a:srgbClr val="0F1F19"/>
          </a:solidFill>
          <a:ln w="8890">
            <a:solidFill>
              <a:srgbClr val="0F1F1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967728" y="144475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三层防线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967728" y="1956816"/>
            <a:ext cx="1298448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数据库仅创建者可读写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云函数服务端 OPENID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修改/删除前所有权校验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补充：内容安全、AI 限流、异常日志、导入导出、数据清除。</a:t>
            </a:r>
            <a:endParaRPr lang="en-US" sz="1020" dirty="0"/>
          </a:p>
        </p:txBody>
      </p:sp>
      <p:sp>
        <p:nvSpPr>
          <p:cNvPr id="26" name="Shape 19"/>
          <p:cNvSpPr/>
          <p:nvPr/>
        </p:nvSpPr>
        <p:spPr>
          <a:xfrm>
            <a:off x="6903720" y="4096512"/>
            <a:ext cx="1426464" cy="256032"/>
          </a:xfrm>
          <a:prstGeom prst="roundRect">
            <a:avLst>
              <a:gd name="adj" fmla="val 46429"/>
            </a:avLst>
          </a:prstGeom>
          <a:solidFill>
            <a:srgbClr val="25382F"/>
          </a:solidFill>
          <a:ln w="12700">
            <a:solidFill>
              <a:srgbClr val="25382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76872" y="4151376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/ 可追踪 / 可恢复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81728"/>
            <a:ext cx="438912" cy="256032"/>
          </a:xfrm>
          <a:prstGeom prst="roundRect">
            <a:avLst>
              <a:gd name="adj" fmla="val 42857"/>
            </a:avLst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7228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103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橘记 Juji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FEF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让记账从工具，变成愿意坚持的生活陪伴。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193029"/>
          </a:solidFill>
          <a:ln w="8890">
            <a:solidFill>
              <a:srgbClr val="2D4D4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21408"/>
            <a:ext cx="329184" cy="329184"/>
          </a:xfrm>
          <a:prstGeom prst="ellipse">
            <a:avLst/>
          </a:prstGeom>
          <a:solidFill>
            <a:srgbClr val="27C07D"/>
          </a:solidFill>
          <a:ln w="12700">
            <a:solidFill>
              <a:srgbClr val="27C0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低阻力记账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预算提醒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统计复盘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成长陪伴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44728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25382F"/>
          </a:solidFill>
          <a:ln w="8890">
            <a:solidFill>
              <a:srgbClr val="2D4D4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121408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技术价值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原生小程序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CloudBase Serverless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权限与安全防线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36208" y="1874520"/>
            <a:ext cx="2340864" cy="1993392"/>
          </a:xfrm>
          <a:prstGeom prst="roundRect">
            <a:avLst>
              <a:gd name="adj" fmla="val 9174"/>
            </a:avLst>
          </a:prstGeom>
          <a:solidFill>
            <a:srgbClr val="193029"/>
          </a:solidFill>
          <a:ln w="8890">
            <a:solidFill>
              <a:srgbClr val="2D4D4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121408"/>
            <a:ext cx="329184" cy="329184"/>
          </a:xfrm>
          <a:prstGeom prst="ellipse">
            <a:avLst/>
          </a:prstGeom>
          <a:solidFill>
            <a:srgbClr val="5BA4CB"/>
          </a:solidFill>
          <a:ln w="12700">
            <a:solidFill>
              <a:srgbClr val="5BA4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112264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票据识别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更细预算建议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多维消费报告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D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更丰富的小橘人格</a:t>
            </a:r>
            <a:endParaRPr lang="en-US" sz="1120" dirty="0"/>
          </a:p>
        </p:txBody>
      </p:sp>
      <p:pic>
        <p:nvPicPr>
          <p:cNvPr id="18" name="Image 0" descr="小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56" y="585216"/>
            <a:ext cx="868680" cy="914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401568" y="4407408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橘记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橘记 Juji - 大模型驱动的对话式智能记账微信小程序</dc:title>
  <dc:subject>竞赛路演汇报</dc:subject>
  <dc:creator>橘记 Juji</dc:creator>
  <cp:lastModifiedBy>橘记 Juji</cp:lastModifiedBy>
  <cp:revision>1</cp:revision>
  <dcterms:created xsi:type="dcterms:W3CDTF">2026-06-13T12:12:31Z</dcterms:created>
  <dcterms:modified xsi:type="dcterms:W3CDTF">2026-06-13T12:12:31Z</dcterms:modified>
</cp:coreProperties>
</file>