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1009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08106"/>
            <a:ext cx="3154680" cy="5143500"/>
          </a:xfrm>
          <a:prstGeom prst="rect">
            <a:avLst/>
          </a:prstGeom>
          <a:solidFill>
            <a:srgbClr val="0F1F19"/>
          </a:solidFill>
          <a:ln w="12700">
            <a:solidFill>
              <a:srgbClr val="0F1F19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Shape 1"/>
          <p:cNvSpPr/>
          <p:nvPr/>
        </p:nvSpPr>
        <p:spPr>
          <a:xfrm>
            <a:off x="3154680" y="0"/>
            <a:ext cx="5989320" cy="5143500"/>
          </a:xfrm>
          <a:prstGeom prst="rect">
            <a:avLst/>
          </a:prstGeom>
          <a:solidFill>
            <a:srgbClr val="F3FBF7"/>
          </a:solidFill>
          <a:ln w="12700">
            <a:solidFill>
              <a:srgbClr val="F3FB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713232"/>
            <a:ext cx="192024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橘记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3716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JUJI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83664"/>
            <a:ext cx="2148840" cy="1261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大模型驱动的</a:t>
            </a:r>
            <a:endParaRPr lang="en-US" sz="2300" dirty="0"/>
          </a:p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对话式智能记账</a:t>
            </a:r>
            <a:endParaRPr lang="en-US" sz="2300" dirty="0"/>
          </a:p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微信小程序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321110" y="3035808"/>
            <a:ext cx="2508569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CFEF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打开就记，记完就走。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CFEF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陪伴你的是 AI 助手「小橘」。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170137" y="4343400"/>
            <a:ext cx="2526856" cy="566928"/>
          </a:xfrm>
          <a:prstGeom prst="roundRect">
            <a:avLst>
              <a:gd name="adj" fmla="val 44444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Text 7"/>
          <p:cNvSpPr/>
          <p:nvPr/>
        </p:nvSpPr>
        <p:spPr>
          <a:xfrm>
            <a:off x="261576" y="4470897"/>
            <a:ext cx="2359152" cy="4434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指导老师：李翠红 胡瑶</a:t>
            </a:r>
            <a:endParaRPr lang="en-US" sz="1400" dirty="0"/>
          </a:p>
        </p:txBody>
      </p:sp>
      <p:pic>
        <p:nvPicPr>
          <p:cNvPr id="12" name="Image 0" descr="首页展示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687153"/>
            <a:ext cx="1600200" cy="3451123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570732" y="4169664"/>
            <a:ext cx="1362456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21024" y="4233672"/>
            <a:ext cx="121615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</a:t>
            </a:r>
            <a:endParaRPr lang="en-US" sz="850" dirty="0"/>
          </a:p>
        </p:txBody>
      </p:sp>
      <p:pic>
        <p:nvPicPr>
          <p:cNvPr id="17" name="Image 1" descr="记一笔界面展示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924" y="432902"/>
            <a:ext cx="1645920" cy="342129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225796" y="4010260"/>
            <a:ext cx="1408176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324094" y="4078224"/>
            <a:ext cx="126187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记一笔</a:t>
            </a:r>
            <a:endParaRPr lang="en-US" sz="850" dirty="0"/>
          </a:p>
        </p:txBody>
      </p:sp>
      <p:pic>
        <p:nvPicPr>
          <p:cNvPr id="22" name="Image 2" descr="小橘帮忙记账的界面展示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288" y="702187"/>
            <a:ext cx="1691640" cy="3613781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995160" y="4393660"/>
            <a:ext cx="1453896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068312" y="4441378"/>
            <a:ext cx="130759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小橘 AI</a:t>
            </a:r>
            <a:endParaRPr lang="en-US" sz="850" dirty="0"/>
          </a:p>
        </p:txBody>
      </p:sp>
      <p:pic>
        <p:nvPicPr>
          <p:cNvPr id="25" name="Image 3" descr="小橘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0" y="530352"/>
            <a:ext cx="1078992" cy="114300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8284464" y="118872"/>
            <a:ext cx="164592" cy="164592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604504" y="118872"/>
            <a:ext cx="164592" cy="164592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59CBFC06-4689-A84F-C510-E929807F603C}"/>
              </a:ext>
            </a:extLst>
          </p:cNvPr>
          <p:cNvSpPr/>
          <p:nvPr/>
        </p:nvSpPr>
        <p:spPr>
          <a:xfrm>
            <a:off x="234973" y="3570732"/>
            <a:ext cx="2526856" cy="566928"/>
          </a:xfrm>
          <a:prstGeom prst="roundRect">
            <a:avLst>
              <a:gd name="adj" fmla="val 44444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98B14986-598A-9345-90C0-1373557BB437}"/>
              </a:ext>
            </a:extLst>
          </p:cNvPr>
          <p:cNvSpPr/>
          <p:nvPr/>
        </p:nvSpPr>
        <p:spPr>
          <a:xfrm>
            <a:off x="117486" y="3726796"/>
            <a:ext cx="2761829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参赛成员：梁承伟 李俊怡 邓泽楷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汇报路线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2304288" cy="1234440"/>
          </a:xfrm>
          <a:prstGeom prst="roundRect">
            <a:avLst>
              <a:gd name="adj" fmla="val 13333"/>
            </a:avLst>
          </a:prstGeom>
          <a:solidFill>
            <a:srgbClr val="EAF8F1"/>
          </a:solidFill>
          <a:ln w="8890">
            <a:solidFill>
              <a:srgbClr val="EAF8F1"/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1490472"/>
            <a:ext cx="585216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7C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04672" y="1892808"/>
            <a:ext cx="197510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作品定位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2203704"/>
            <a:ext cx="1975104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为什么做橘记，以及它解决什么问题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83280" y="1325880"/>
            <a:ext cx="2304288" cy="1234440"/>
          </a:xfrm>
          <a:prstGeom prst="roundRect">
            <a:avLst>
              <a:gd name="adj" fmla="val 13333"/>
            </a:avLst>
          </a:prstGeom>
          <a:solidFill>
            <a:srgbClr val="FFF0D5"/>
          </a:solidFill>
          <a:ln w="8890">
            <a:solidFill>
              <a:srgbClr val="FFF0D5"/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47872" y="1490472"/>
            <a:ext cx="585216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47872" y="1892808"/>
            <a:ext cx="197510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产品体验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47872" y="2203704"/>
            <a:ext cx="1975104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从记一笔到复盘、预算和成长体系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325880"/>
            <a:ext cx="2304288" cy="1234440"/>
          </a:xfrm>
          <a:prstGeom prst="roundRect">
            <a:avLst>
              <a:gd name="adj" fmla="val 13333"/>
            </a:avLst>
          </a:prstGeom>
          <a:solidFill>
            <a:srgbClr val="E8F5FB"/>
          </a:solidFill>
          <a:ln w="8890">
            <a:solidFill>
              <a:srgbClr val="E8F5FB"/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91072" y="1490472"/>
            <a:ext cx="585216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BA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91072" y="1892808"/>
            <a:ext cx="197510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创新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91072" y="2203704"/>
            <a:ext cx="1975104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小橘聊天、问账、对话记账的闭环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2999232"/>
            <a:ext cx="2880360" cy="1234440"/>
          </a:xfrm>
          <a:prstGeom prst="roundRect">
            <a:avLst>
              <a:gd name="adj" fmla="val 13333"/>
            </a:avLst>
          </a:prstGeom>
          <a:solidFill>
            <a:srgbClr val="F0ECFF"/>
          </a:solidFill>
          <a:ln w="8890">
            <a:solidFill>
              <a:srgbClr val="F0ECFF"/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4672" y="3163824"/>
            <a:ext cx="585216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04672" y="3566160"/>
            <a:ext cx="255117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4672" y="3877056"/>
            <a:ext cx="2551176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原生小程序 + CloudBase + 混元模型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83280" y="2999232"/>
            <a:ext cx="2880360" cy="1234440"/>
          </a:xfrm>
          <a:prstGeom prst="roundRect">
            <a:avLst>
              <a:gd name="adj" fmla="val 13333"/>
            </a:avLst>
          </a:prstGeom>
          <a:solidFill>
            <a:srgbClr val="FFF0F5"/>
          </a:solidFill>
          <a:ln w="8890">
            <a:solidFill>
              <a:srgbClr val="FFF0F5"/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47872" y="3163824"/>
            <a:ext cx="585216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547872" y="3566160"/>
            <a:ext cx="255117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成果展望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547872" y="3877056"/>
            <a:ext cx="2551176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作品价值、工程完整度与后续规划</a:t>
            </a:r>
            <a:endParaRPr lang="en-US" sz="950" dirty="0"/>
          </a:p>
        </p:txBody>
      </p:sp>
      <p:pic>
        <p:nvPicPr>
          <p:cNvPr id="28" name="Image 0" descr="小橘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2761488"/>
            <a:ext cx="1005840" cy="106070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58368" y="4462272"/>
            <a:ext cx="69494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路线逻辑：先让评委看到作品能解决问题，再展示它为什么有技术含量。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为什么还需要一个记账工具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94360" y="1243584"/>
            <a:ext cx="2450592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8890">
            <a:solidFill>
              <a:srgbClr val="27C07D">
                <a:alpha val="65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8952" y="1408176"/>
            <a:ext cx="329184" cy="329184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490472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97864" y="1408176"/>
            <a:ext cx="15087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手动麻烦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97864" y="1719072"/>
            <a:ext cx="1591056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每天打开表单逐项输入，习惯很难长期坚持。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3337560" y="1243584"/>
            <a:ext cx="2450592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8890">
            <a:solidFill>
              <a:srgbClr val="FF9F1C">
                <a:alpha val="65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02152" y="1408176"/>
            <a:ext cx="329184" cy="329184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2152" y="1490472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41064" y="1408176"/>
            <a:ext cx="15087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复盘薄弱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41064" y="1719072"/>
            <a:ext cx="1591056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只有流水和饼图，缺少可读的消费反馈。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94360" y="2724912"/>
            <a:ext cx="2450592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8890">
            <a:solidFill>
              <a:srgbClr val="5BA4CB">
                <a:alpha val="65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58952" y="2889504"/>
            <a:ext cx="329184" cy="329184"/>
          </a:xfrm>
          <a:prstGeom prst="ellipse">
            <a:avLst/>
          </a:prstGeom>
          <a:solidFill>
            <a:srgbClr val="5BA4CB"/>
          </a:solidFill>
          <a:ln w="12700">
            <a:solidFill>
              <a:srgbClr val="5BA4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2971800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97864" y="2889504"/>
            <a:ext cx="15087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缺少陪伴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97864" y="3200400"/>
            <a:ext cx="1591056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传统记账工具像账本，不像能交流的助手。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3337560" y="2724912"/>
            <a:ext cx="2450592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8890">
            <a:solidFill>
              <a:srgbClr val="8B5CF6">
                <a:alpha val="65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502152" y="2889504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2152" y="2971800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41064" y="2889504"/>
            <a:ext cx="15087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安全顾虑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41064" y="3200400"/>
            <a:ext cx="1591056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消费数据敏感，需要清晰的数据隔离和权限设计。</a:t>
            </a:r>
            <a:endParaRPr lang="en-US" sz="980" dirty="0"/>
          </a:p>
        </p:txBody>
      </p:sp>
      <p:pic>
        <p:nvPicPr>
          <p:cNvPr id="30" name="Image 0" descr="首页展示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051623"/>
            <a:ext cx="1691640" cy="364833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6565392" y="4434840"/>
            <a:ext cx="1453896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638544" y="4489704"/>
            <a:ext cx="130759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真实账单流水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658368" y="4370832"/>
            <a:ext cx="5175504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用户不是不想记账，而是不想为了记账付出过高成本。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橘记的解决方案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511296" y="1325880"/>
            <a:ext cx="2084832" cy="2084832"/>
          </a:xfrm>
          <a:prstGeom prst="roundRect">
            <a:avLst>
              <a:gd name="adj" fmla="val 12281"/>
            </a:avLst>
          </a:prstGeom>
          <a:solidFill>
            <a:srgbClr val="0F1F19"/>
          </a:solidFill>
          <a:ln w="8890">
            <a:solidFill>
              <a:srgbClr val="0F1F19"/>
            </a:solidFill>
            <a:prstDash val="solid"/>
          </a:ln>
          <a:effectLst>
            <a:outerShdw blurRad="19050" dist="1016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9" name="Image 0" descr="小橘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792" y="1591056"/>
            <a:ext cx="987552" cy="10424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712464" y="2706624"/>
            <a:ext cx="166420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小橘 AI 助手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3767328" y="2999232"/>
            <a:ext cx="15544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CFEF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把记账变成对话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713232" y="1133856"/>
            <a:ext cx="1993392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8890">
            <a:solidFill>
              <a:srgbClr val="27C07D">
                <a:alpha val="7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96112" y="1298448"/>
            <a:ext cx="151790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打开就记</a:t>
            </a:r>
            <a:endParaRPr lang="en-US" sz="1430" dirty="0"/>
          </a:p>
        </p:txBody>
      </p:sp>
      <p:sp>
        <p:nvSpPr>
          <p:cNvPr id="14" name="Text 11"/>
          <p:cNvSpPr/>
          <p:nvPr/>
        </p:nvSpPr>
        <p:spPr>
          <a:xfrm>
            <a:off x="896112" y="1609344"/>
            <a:ext cx="1591056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首页与记账页信息密度低，核心动作一步到位。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6144768" y="1133856"/>
            <a:ext cx="1993392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8890">
            <a:solidFill>
              <a:srgbClr val="FF9F1C">
                <a:alpha val="7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27648" y="1298448"/>
            <a:ext cx="151790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动嘴记账</a:t>
            </a:r>
            <a:endParaRPr lang="en-US" sz="1430" dirty="0"/>
          </a:p>
        </p:txBody>
      </p:sp>
      <p:sp>
        <p:nvSpPr>
          <p:cNvPr id="17" name="Text 14"/>
          <p:cNvSpPr/>
          <p:nvPr/>
        </p:nvSpPr>
        <p:spPr>
          <a:xfrm>
            <a:off x="6327648" y="1609344"/>
            <a:ext cx="1591056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一句口语拆成多笔账单，确认后批量写入。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713232" y="3127248"/>
            <a:ext cx="1993392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8890">
            <a:solidFill>
              <a:srgbClr val="5BA4CB">
                <a:alpha val="7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96112" y="3291840"/>
            <a:ext cx="151790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5BA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自动复盘</a:t>
            </a:r>
            <a:endParaRPr lang="en-US" sz="1430" dirty="0"/>
          </a:p>
        </p:txBody>
      </p:sp>
      <p:sp>
        <p:nvSpPr>
          <p:cNvPr id="20" name="Text 17"/>
          <p:cNvSpPr/>
          <p:nvPr/>
        </p:nvSpPr>
        <p:spPr>
          <a:xfrm>
            <a:off x="896112" y="3602736"/>
            <a:ext cx="1591056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趋势、排行、AI 便签让流水变成反馈。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6144768" y="3127248"/>
            <a:ext cx="1993392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8890">
            <a:solidFill>
              <a:srgbClr val="8B5CF6">
                <a:alpha val="7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327648" y="3291840"/>
            <a:ext cx="151790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长期陪伴</a:t>
            </a:r>
            <a:endParaRPr lang="en-US" sz="1430" dirty="0"/>
          </a:p>
        </p:txBody>
      </p:sp>
      <p:sp>
        <p:nvSpPr>
          <p:cNvPr id="23" name="Text 20"/>
          <p:cNvSpPr/>
          <p:nvPr/>
        </p:nvSpPr>
        <p:spPr>
          <a:xfrm>
            <a:off x="6327648" y="3602736"/>
            <a:ext cx="1591056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足迹、称号、心里话和主题让用户愿意留下。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2697480" y="1627632"/>
            <a:ext cx="685800" cy="502920"/>
          </a:xfrm>
          <a:prstGeom prst="line">
            <a:avLst/>
          </a:prstGeom>
          <a:noFill/>
          <a:ln w="15240">
            <a:solidFill>
              <a:srgbClr val="CFE5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23560" y="1627632"/>
            <a:ext cx="502920" cy="502920"/>
          </a:xfrm>
          <a:prstGeom prst="line">
            <a:avLst/>
          </a:prstGeom>
          <a:noFill/>
          <a:ln w="15240">
            <a:solidFill>
              <a:srgbClr val="CFE5D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697480" y="3611880"/>
            <a:ext cx="685800" cy="0"/>
          </a:xfrm>
          <a:prstGeom prst="line">
            <a:avLst/>
          </a:prstGeom>
          <a:noFill/>
          <a:ln w="15240">
            <a:solidFill>
              <a:srgbClr val="CFE5D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623560" y="3611880"/>
            <a:ext cx="502920" cy="0"/>
          </a:xfrm>
          <a:prstGeom prst="line">
            <a:avLst/>
          </a:prstGeom>
          <a:noFill/>
          <a:ln w="15240">
            <a:solidFill>
              <a:srgbClr val="CFE5D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产品功能全景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  <p:pic>
        <p:nvPicPr>
          <p:cNvPr id="10" name="Image 0" descr="前端页面示例图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47" y="1124712"/>
            <a:ext cx="1759753" cy="3749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31520" y="4535424"/>
            <a:ext cx="155448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4590288"/>
            <a:ext cx="140817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前端页面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971800" y="1078992"/>
            <a:ext cx="2148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99816" y="1197864"/>
            <a:ext cx="502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</a:t>
            </a:r>
            <a:endParaRPr lang="en-US" sz="1120" dirty="0"/>
          </a:p>
        </p:txBody>
      </p:sp>
      <p:sp>
        <p:nvSpPr>
          <p:cNvPr id="15" name="Text 12"/>
          <p:cNvSpPr/>
          <p:nvPr/>
        </p:nvSpPr>
        <p:spPr>
          <a:xfrm>
            <a:off x="3666744" y="1197864"/>
            <a:ext cx="12344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静默登录 / OPENID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422392" y="1078992"/>
            <a:ext cx="2148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50408" y="1197864"/>
            <a:ext cx="502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</a:t>
            </a:r>
            <a:endParaRPr lang="en-US" sz="1120" dirty="0"/>
          </a:p>
        </p:txBody>
      </p:sp>
      <p:sp>
        <p:nvSpPr>
          <p:cNvPr id="18" name="Text 15"/>
          <p:cNvSpPr/>
          <p:nvPr/>
        </p:nvSpPr>
        <p:spPr>
          <a:xfrm>
            <a:off x="6117336" y="1197864"/>
            <a:ext cx="12344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页 onboarding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971800" y="1773936"/>
            <a:ext cx="2148840" cy="502920"/>
          </a:xfrm>
          <a:prstGeom prst="roundRect">
            <a:avLst>
              <a:gd name="adj" fmla="val 18182"/>
            </a:avLst>
          </a:prstGeom>
          <a:solidFill>
            <a:srgbClr val="EAF8F1"/>
          </a:solidFill>
          <a:ln w="8890">
            <a:solidFill>
              <a:srgbClr val="CFE5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099816" y="1892808"/>
            <a:ext cx="502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3666744" y="1892808"/>
            <a:ext cx="12344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 + 流水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422392" y="1773936"/>
            <a:ext cx="2148840" cy="502920"/>
          </a:xfrm>
          <a:prstGeom prst="roundRect">
            <a:avLst>
              <a:gd name="adj" fmla="val 18182"/>
            </a:avLst>
          </a:prstGeom>
          <a:solidFill>
            <a:srgbClr val="EAF8F1"/>
          </a:solidFill>
          <a:ln w="8890">
            <a:solidFill>
              <a:srgbClr val="CFE5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50408" y="1892808"/>
            <a:ext cx="502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</a:t>
            </a:r>
            <a:endParaRPr lang="en-US" sz="1120" dirty="0"/>
          </a:p>
        </p:txBody>
      </p:sp>
      <p:sp>
        <p:nvSpPr>
          <p:cNvPr id="24" name="Text 21"/>
          <p:cNvSpPr/>
          <p:nvPr/>
        </p:nvSpPr>
        <p:spPr>
          <a:xfrm>
            <a:off x="6117336" y="1892808"/>
            <a:ext cx="12344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 + AI 便签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971800" y="2468880"/>
            <a:ext cx="2148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099816" y="2587752"/>
            <a:ext cx="502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记账</a:t>
            </a:r>
            <a:endParaRPr lang="en-US" sz="1120" dirty="0"/>
          </a:p>
        </p:txBody>
      </p:sp>
      <p:sp>
        <p:nvSpPr>
          <p:cNvPr id="27" name="Text 24"/>
          <p:cNvSpPr/>
          <p:nvPr/>
        </p:nvSpPr>
        <p:spPr>
          <a:xfrm>
            <a:off x="3666744" y="2587752"/>
            <a:ext cx="12344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 + 图片 + 心情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422392" y="2468880"/>
            <a:ext cx="2148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50408" y="2587752"/>
            <a:ext cx="502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</a:t>
            </a:r>
            <a:endParaRPr lang="en-US" sz="1120" dirty="0"/>
          </a:p>
        </p:txBody>
      </p:sp>
      <p:sp>
        <p:nvSpPr>
          <p:cNvPr id="30" name="Text 27"/>
          <p:cNvSpPr/>
          <p:nvPr/>
        </p:nvSpPr>
        <p:spPr>
          <a:xfrm>
            <a:off x="6117336" y="2587752"/>
            <a:ext cx="12344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进度环 + 节奏建议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971800" y="3163824"/>
            <a:ext cx="2148840" cy="502920"/>
          </a:xfrm>
          <a:prstGeom prst="roundRect">
            <a:avLst>
              <a:gd name="adj" fmla="val 18182"/>
            </a:avLst>
          </a:prstGeom>
          <a:solidFill>
            <a:srgbClr val="EAF8F1"/>
          </a:solidFill>
          <a:ln w="8890">
            <a:solidFill>
              <a:srgbClr val="CFE5D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099816" y="3282696"/>
            <a:ext cx="502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</a:t>
            </a:r>
            <a:endParaRPr lang="en-US" sz="1120" dirty="0"/>
          </a:p>
        </p:txBody>
      </p:sp>
      <p:sp>
        <p:nvSpPr>
          <p:cNvPr id="33" name="Text 30"/>
          <p:cNvSpPr/>
          <p:nvPr/>
        </p:nvSpPr>
        <p:spPr>
          <a:xfrm>
            <a:off x="3666744" y="3282696"/>
            <a:ext cx="12344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足迹 + AI 信件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422392" y="3163824"/>
            <a:ext cx="2148840" cy="502920"/>
          </a:xfrm>
          <a:prstGeom prst="roundRect">
            <a:avLst>
              <a:gd name="adj" fmla="val 18182"/>
            </a:avLst>
          </a:prstGeom>
          <a:solidFill>
            <a:srgbClr val="EAF8F1"/>
          </a:solidFill>
          <a:ln w="8890">
            <a:solidFill>
              <a:srgbClr val="CFE5D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550408" y="3282696"/>
            <a:ext cx="502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</a:t>
            </a:r>
            <a:endParaRPr lang="en-US" sz="1120" dirty="0"/>
          </a:p>
        </p:txBody>
      </p:sp>
      <p:sp>
        <p:nvSpPr>
          <p:cNvPr id="36" name="Text 33"/>
          <p:cNvSpPr/>
          <p:nvPr/>
        </p:nvSpPr>
        <p:spPr>
          <a:xfrm>
            <a:off x="6117336" y="3282696"/>
            <a:ext cx="12344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自创分类 CRUD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971800" y="3858768"/>
            <a:ext cx="2148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099816" y="3977640"/>
            <a:ext cx="502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</a:t>
            </a:r>
            <a:endParaRPr lang="en-US" sz="1120" dirty="0"/>
          </a:p>
        </p:txBody>
      </p:sp>
      <p:sp>
        <p:nvSpPr>
          <p:cNvPr id="39" name="Text 36"/>
          <p:cNvSpPr/>
          <p:nvPr/>
        </p:nvSpPr>
        <p:spPr>
          <a:xfrm>
            <a:off x="3666744" y="3977640"/>
            <a:ext cx="12344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 Token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422392" y="3858768"/>
            <a:ext cx="2148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550408" y="3977640"/>
            <a:ext cx="502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1120" dirty="0"/>
          </a:p>
        </p:txBody>
      </p:sp>
      <p:sp>
        <p:nvSpPr>
          <p:cNvPr id="42" name="Text 39"/>
          <p:cNvSpPr/>
          <p:nvPr/>
        </p:nvSpPr>
        <p:spPr>
          <a:xfrm>
            <a:off x="6117336" y="3977640"/>
            <a:ext cx="12344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手账风格账单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7818120" y="1078992"/>
            <a:ext cx="804672" cy="3291840"/>
          </a:xfrm>
          <a:prstGeom prst="roundRect">
            <a:avLst>
              <a:gd name="adj" fmla="val 18182"/>
            </a:avLst>
          </a:prstGeom>
          <a:solidFill>
            <a:srgbClr val="0F1F19"/>
          </a:solidFill>
          <a:ln w="8890">
            <a:solidFill>
              <a:srgbClr val="0F1F19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7936992" y="1298448"/>
            <a:ext cx="54864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CloudBase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NoSQL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云函数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云存储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混元模型</a:t>
            </a:r>
            <a:endParaRPr lang="en-US" sz="1250" dirty="0"/>
          </a:p>
        </p:txBody>
      </p:sp>
      <p:sp>
        <p:nvSpPr>
          <p:cNvPr id="45" name="Text 42"/>
          <p:cNvSpPr/>
          <p:nvPr/>
        </p:nvSpPr>
        <p:spPr>
          <a:xfrm>
            <a:off x="2971800" y="4498848"/>
            <a:ext cx="41148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前端体验完整，后端能力闭环。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JOURNEY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用户使用旅程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30352" y="1243584"/>
            <a:ext cx="987552" cy="2075688"/>
          </a:xfrm>
          <a:prstGeom prst="roundRect">
            <a:avLst>
              <a:gd name="adj" fmla="val 231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前端页面示例图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69" y="1252728"/>
            <a:ext cx="965718" cy="20574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58368" y="2971800"/>
            <a:ext cx="73152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3026664"/>
            <a:ext cx="58521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804672" y="3529584"/>
            <a:ext cx="384048" cy="384048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" y="3630168"/>
            <a:ext cx="384048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448056" y="3986784"/>
            <a:ext cx="1170432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引导理解产品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1627632" y="2231136"/>
            <a:ext cx="219456" cy="347472"/>
          </a:xfrm>
          <a:prstGeom prst="chevron">
            <a:avLst/>
          </a:prstGeom>
          <a:solidFill>
            <a:srgbClr val="CFE5D8"/>
          </a:solidFill>
          <a:ln w="12700">
            <a:solidFill>
              <a:srgbClr val="CFE5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249424" y="1243584"/>
            <a:ext cx="987552" cy="2075688"/>
          </a:xfrm>
          <a:prstGeom prst="roundRect">
            <a:avLst>
              <a:gd name="adj" fmla="val 231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1" descr="记一笔界面展示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1274047"/>
            <a:ext cx="969264" cy="2014762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2377440" y="2971800"/>
            <a:ext cx="73152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450592" y="3026664"/>
            <a:ext cx="58521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记账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2523744" y="3529584"/>
            <a:ext cx="384048" cy="384048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523744" y="3630168"/>
            <a:ext cx="384048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20" dirty="0"/>
          </a:p>
        </p:txBody>
      </p:sp>
      <p:sp>
        <p:nvSpPr>
          <p:cNvPr id="24" name="Text 20"/>
          <p:cNvSpPr/>
          <p:nvPr/>
        </p:nvSpPr>
        <p:spPr>
          <a:xfrm>
            <a:off x="2167128" y="3986784"/>
            <a:ext cx="1170432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手动或对话录入</a:t>
            </a:r>
            <a:endParaRPr lang="en-US" sz="840" dirty="0"/>
          </a:p>
        </p:txBody>
      </p:sp>
      <p:sp>
        <p:nvSpPr>
          <p:cNvPr id="25" name="Shape 21"/>
          <p:cNvSpPr/>
          <p:nvPr/>
        </p:nvSpPr>
        <p:spPr>
          <a:xfrm>
            <a:off x="3346704" y="2231136"/>
            <a:ext cx="219456" cy="347472"/>
          </a:xfrm>
          <a:prstGeom prst="chevron">
            <a:avLst/>
          </a:prstGeom>
          <a:solidFill>
            <a:srgbClr val="CFE5D8"/>
          </a:solidFill>
          <a:ln w="12700">
            <a:solidFill>
              <a:srgbClr val="CFE5D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968496" y="1243584"/>
            <a:ext cx="987552" cy="2075688"/>
          </a:xfrm>
          <a:prstGeom prst="roundRect">
            <a:avLst>
              <a:gd name="adj" fmla="val 231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2" descr="首页展示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5289" y="1252728"/>
            <a:ext cx="953965" cy="205740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096512" y="2971800"/>
            <a:ext cx="73152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169664" y="3026664"/>
            <a:ext cx="58521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4242816" y="3529584"/>
            <a:ext cx="384048" cy="384048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242816" y="3630168"/>
            <a:ext cx="384048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20" dirty="0"/>
          </a:p>
        </p:txBody>
      </p:sp>
      <p:sp>
        <p:nvSpPr>
          <p:cNvPr id="33" name="Text 28"/>
          <p:cNvSpPr/>
          <p:nvPr/>
        </p:nvSpPr>
        <p:spPr>
          <a:xfrm>
            <a:off x="3886200" y="3986784"/>
            <a:ext cx="1170432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首页看预算与流水</a:t>
            </a:r>
            <a:endParaRPr lang="en-US" sz="840" dirty="0"/>
          </a:p>
        </p:txBody>
      </p:sp>
      <p:sp>
        <p:nvSpPr>
          <p:cNvPr id="34" name="Shape 29"/>
          <p:cNvSpPr/>
          <p:nvPr/>
        </p:nvSpPr>
        <p:spPr>
          <a:xfrm>
            <a:off x="5065776" y="2231136"/>
            <a:ext cx="219456" cy="347472"/>
          </a:xfrm>
          <a:prstGeom prst="chevron">
            <a:avLst/>
          </a:prstGeom>
          <a:solidFill>
            <a:srgbClr val="CFE5D8"/>
          </a:solidFill>
          <a:ln w="12700">
            <a:solidFill>
              <a:srgbClr val="CFE5D8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5687568" y="1243584"/>
            <a:ext cx="987552" cy="2075688"/>
          </a:xfrm>
          <a:prstGeom prst="roundRect">
            <a:avLst>
              <a:gd name="adj" fmla="val 231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3" descr="统计页面展示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485" y="1252728"/>
            <a:ext cx="965718" cy="2057400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5815584" y="2971800"/>
            <a:ext cx="73152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5888736" y="3026664"/>
            <a:ext cx="58521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5961888" y="3529584"/>
            <a:ext cx="384048" cy="384048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961888" y="3630168"/>
            <a:ext cx="384048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20" dirty="0"/>
          </a:p>
        </p:txBody>
      </p:sp>
      <p:sp>
        <p:nvSpPr>
          <p:cNvPr id="42" name="Text 36"/>
          <p:cNvSpPr/>
          <p:nvPr/>
        </p:nvSpPr>
        <p:spPr>
          <a:xfrm>
            <a:off x="5605272" y="3986784"/>
            <a:ext cx="1170432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趋势排行与 AI 便签</a:t>
            </a:r>
            <a:endParaRPr lang="en-US" sz="840" dirty="0"/>
          </a:p>
        </p:txBody>
      </p:sp>
      <p:sp>
        <p:nvSpPr>
          <p:cNvPr id="43" name="Shape 37"/>
          <p:cNvSpPr/>
          <p:nvPr/>
        </p:nvSpPr>
        <p:spPr>
          <a:xfrm>
            <a:off x="6784848" y="2231136"/>
            <a:ext cx="219456" cy="347472"/>
          </a:xfrm>
          <a:prstGeom prst="chevron">
            <a:avLst/>
          </a:prstGeom>
          <a:solidFill>
            <a:srgbClr val="CFE5D8"/>
          </a:solidFill>
          <a:ln w="12700">
            <a:solidFill>
              <a:srgbClr val="CFE5D8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7406640" y="1243584"/>
            <a:ext cx="987552" cy="2075688"/>
          </a:xfrm>
          <a:prstGeom prst="roundRect">
            <a:avLst>
              <a:gd name="adj" fmla="val 231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4" descr="我的页面展示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5784" y="1257823"/>
            <a:ext cx="969264" cy="2047210"/>
          </a:xfrm>
          <a:prstGeom prst="rect">
            <a:avLst/>
          </a:prstGeom>
        </p:spPr>
      </p:pic>
      <p:sp>
        <p:nvSpPr>
          <p:cNvPr id="47" name="Shape 40"/>
          <p:cNvSpPr/>
          <p:nvPr/>
        </p:nvSpPr>
        <p:spPr>
          <a:xfrm>
            <a:off x="7534656" y="2971800"/>
            <a:ext cx="73152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7607808" y="3026664"/>
            <a:ext cx="58521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</a:t>
            </a:r>
            <a:endParaRPr lang="en-US" sz="850" dirty="0"/>
          </a:p>
        </p:txBody>
      </p:sp>
      <p:sp>
        <p:nvSpPr>
          <p:cNvPr id="49" name="Shape 42"/>
          <p:cNvSpPr/>
          <p:nvPr/>
        </p:nvSpPr>
        <p:spPr>
          <a:xfrm>
            <a:off x="7680960" y="3529584"/>
            <a:ext cx="384048" cy="384048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7680960" y="3630168"/>
            <a:ext cx="384048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20" dirty="0"/>
          </a:p>
        </p:txBody>
      </p:sp>
      <p:sp>
        <p:nvSpPr>
          <p:cNvPr id="51" name="Text 44"/>
          <p:cNvSpPr/>
          <p:nvPr/>
        </p:nvSpPr>
        <p:spPr>
          <a:xfrm>
            <a:off x="7324344" y="3986784"/>
            <a:ext cx="1170432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足迹、称号、心里话</a:t>
            </a:r>
            <a:endParaRPr lang="en-US" sz="840" dirty="0"/>
          </a:p>
        </p:txBody>
      </p:sp>
      <p:sp>
        <p:nvSpPr>
          <p:cNvPr id="52" name="Text 45"/>
          <p:cNvSpPr/>
          <p:nvPr/>
        </p:nvSpPr>
        <p:spPr>
          <a:xfrm>
            <a:off x="658368" y="4507992"/>
            <a:ext cx="66751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设计目标：把“记账”从单次输入，延展成可持续的习惯养成路径。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EXPERIENCE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首页体验：一眼看懂消费状态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  <p:pic>
        <p:nvPicPr>
          <p:cNvPr id="10" name="Image 0" descr="首页展示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25" y="1005840"/>
            <a:ext cx="1797695" cy="387705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41248" y="4544568"/>
            <a:ext cx="155448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4599432"/>
            <a:ext cx="140817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154680" y="1143000"/>
            <a:ext cx="1417320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  <a:effectLst>
            <a:outerShdw blurRad="19050" dist="1016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191256" y="1298448"/>
            <a:ext cx="14173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 / 昨日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227832" y="1618488"/>
            <a:ext cx="127101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消费双数字卡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4773168" y="1143000"/>
            <a:ext cx="1645920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  <a:effectLst>
            <a:outerShdw blurRad="19050" dist="1016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882896" y="1289304"/>
            <a:ext cx="142646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A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预算进度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846320" y="1618488"/>
            <a:ext cx="149961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未设 / 正常 / 超支三态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6611112" y="1143000"/>
            <a:ext cx="1417320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  <a:effectLst>
            <a:outerShdw blurRad="19050" dist="1016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720840" y="1289304"/>
            <a:ext cx="119786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 30 条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684264" y="1618488"/>
            <a:ext cx="127101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按日分组流水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3163824" y="2350008"/>
            <a:ext cx="420624" cy="420624"/>
          </a:xfrm>
          <a:prstGeom prst="ellipse">
            <a:avLst/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163824" y="2459736"/>
            <a:ext cx="42062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310128" y="2496312"/>
            <a:ext cx="128016" cy="128016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94176" y="2331720"/>
            <a:ext cx="39502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渐变 hero 卡</a:t>
            </a:r>
            <a:endParaRPr lang="en-US" sz="1380" dirty="0"/>
          </a:p>
        </p:txBody>
      </p:sp>
      <p:sp>
        <p:nvSpPr>
          <p:cNvPr id="26" name="Text 23"/>
          <p:cNvSpPr/>
          <p:nvPr/>
        </p:nvSpPr>
        <p:spPr>
          <a:xfrm>
            <a:off x="3694176" y="2606040"/>
            <a:ext cx="395020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首屏直接呈现今天与昨天消费，降低信息寻找成本。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163824" y="3081528"/>
            <a:ext cx="420624" cy="420624"/>
          </a:xfrm>
          <a:prstGeom prst="ellipse">
            <a:avLst/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163824" y="3191256"/>
            <a:ext cx="42062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310128" y="3227832"/>
            <a:ext cx="128016" cy="128016"/>
          </a:xfrm>
          <a:prstGeom prst="ellipse">
            <a:avLst/>
          </a:prstGeom>
          <a:solidFill>
            <a:srgbClr val="5BA4CB"/>
          </a:solidFill>
          <a:ln w="12700">
            <a:solidFill>
              <a:srgbClr val="5BA4C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94176" y="3063240"/>
            <a:ext cx="39502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预算提醒</a:t>
            </a:r>
            <a:endParaRPr lang="en-US" sz="1380" dirty="0"/>
          </a:p>
        </p:txBody>
      </p:sp>
      <p:sp>
        <p:nvSpPr>
          <p:cNvPr id="31" name="Text 28"/>
          <p:cNvSpPr/>
          <p:nvPr/>
        </p:nvSpPr>
        <p:spPr>
          <a:xfrm>
            <a:off x="3694176" y="3337560"/>
            <a:ext cx="395020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预算进度条让用户在首页就能知道是否接近超支。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163824" y="3813048"/>
            <a:ext cx="420624" cy="420624"/>
          </a:xfrm>
          <a:prstGeom prst="ellipse">
            <a:avLst/>
          </a:prstGeom>
          <a:solidFill>
            <a:srgbClr val="FFF0D5"/>
          </a:solidFill>
          <a:ln w="12700">
            <a:solidFill>
              <a:srgbClr val="FFF0D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163824" y="3922776"/>
            <a:ext cx="42062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3310128" y="3959352"/>
            <a:ext cx="128016" cy="12801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94176" y="3794760"/>
            <a:ext cx="39502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账单流水</a:t>
            </a:r>
            <a:endParaRPr lang="en-US" sz="1380" dirty="0"/>
          </a:p>
        </p:txBody>
      </p:sp>
      <p:sp>
        <p:nvSpPr>
          <p:cNvPr id="36" name="Text 33"/>
          <p:cNvSpPr/>
          <p:nvPr/>
        </p:nvSpPr>
        <p:spPr>
          <a:xfrm>
            <a:off x="3694176" y="4069080"/>
            <a:ext cx="395020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按日分组、显示当日净额，点击进入手账风详情页。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EXPERIENCE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记一笔体验：低阻力输入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73952" y="932688"/>
            <a:ext cx="1865376" cy="3968496"/>
          </a:xfrm>
          <a:prstGeom prst="roundRect">
            <a:avLst>
              <a:gd name="adj" fmla="val 122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记一笔界面展示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997210"/>
            <a:ext cx="1847088" cy="3839453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601968" y="4553712"/>
            <a:ext cx="155448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0" y="4608576"/>
            <a:ext cx="140817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记一笔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58368" y="1170432"/>
            <a:ext cx="2395728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8890">
            <a:solidFill>
              <a:srgbClr val="27C07D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95528" y="1335024"/>
            <a:ext cx="329184" cy="329184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" y="1417320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225296" y="1316736"/>
            <a:ext cx="16824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 / 支双模式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225296" y="1609344"/>
            <a:ext cx="168249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滑块切换，入口清晰</a:t>
            </a:r>
            <a:endParaRPr lang="en-US" sz="970" dirty="0"/>
          </a:p>
        </p:txBody>
      </p:sp>
      <p:sp>
        <p:nvSpPr>
          <p:cNvPr id="18" name="Shape 15"/>
          <p:cNvSpPr/>
          <p:nvPr/>
        </p:nvSpPr>
        <p:spPr>
          <a:xfrm>
            <a:off x="3447288" y="1170432"/>
            <a:ext cx="2395728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8890">
            <a:solidFill>
              <a:srgbClr val="FF9F1C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584448" y="1335024"/>
            <a:ext cx="329184" cy="329184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84448" y="1417320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014216" y="1316736"/>
            <a:ext cx="16824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金额大字输入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014216" y="1609344"/>
            <a:ext cx="168249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核心数字突出，减少误读</a:t>
            </a:r>
            <a:endParaRPr lang="en-US" sz="970" dirty="0"/>
          </a:p>
        </p:txBody>
      </p:sp>
      <p:sp>
        <p:nvSpPr>
          <p:cNvPr id="23" name="Shape 20"/>
          <p:cNvSpPr/>
          <p:nvPr/>
        </p:nvSpPr>
        <p:spPr>
          <a:xfrm>
            <a:off x="658368" y="2157984"/>
            <a:ext cx="2395728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8890">
            <a:solidFill>
              <a:srgbClr val="27C07D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95528" y="2322576"/>
            <a:ext cx="329184" cy="329184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95528" y="2404872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225296" y="2304288"/>
            <a:ext cx="16824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分类网格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225296" y="2596896"/>
            <a:ext cx="168249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个预设 + 自创分类</a:t>
            </a:r>
            <a:endParaRPr lang="en-US" sz="970" dirty="0"/>
          </a:p>
        </p:txBody>
      </p:sp>
      <p:sp>
        <p:nvSpPr>
          <p:cNvPr id="28" name="Shape 25"/>
          <p:cNvSpPr/>
          <p:nvPr/>
        </p:nvSpPr>
        <p:spPr>
          <a:xfrm>
            <a:off x="3447288" y="2157984"/>
            <a:ext cx="2395728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8890">
            <a:solidFill>
              <a:srgbClr val="FF9F1C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584448" y="2322576"/>
            <a:ext cx="329184" cy="329184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584448" y="2404872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014216" y="2304288"/>
            <a:ext cx="16824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照片与心情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014216" y="2596896"/>
            <a:ext cx="168249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让账单变成生活记录</a:t>
            </a:r>
            <a:endParaRPr lang="en-US" sz="970" dirty="0"/>
          </a:p>
        </p:txBody>
      </p:sp>
      <p:sp>
        <p:nvSpPr>
          <p:cNvPr id="33" name="Shape 30"/>
          <p:cNvSpPr/>
          <p:nvPr/>
        </p:nvSpPr>
        <p:spPr>
          <a:xfrm>
            <a:off x="658368" y="3145536"/>
            <a:ext cx="2395728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8890">
            <a:solidFill>
              <a:srgbClr val="27C07D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95528" y="3310128"/>
            <a:ext cx="329184" cy="329184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95528" y="3392424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1225296" y="3291840"/>
            <a:ext cx="16824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防抖与日上限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1225296" y="3584448"/>
            <a:ext cx="168249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秒保存防抖，500 笔/天限制</a:t>
            </a:r>
            <a:endParaRPr lang="en-US" sz="970" dirty="0"/>
          </a:p>
        </p:txBody>
      </p:sp>
      <p:sp>
        <p:nvSpPr>
          <p:cNvPr id="38" name="Shape 35"/>
          <p:cNvSpPr/>
          <p:nvPr/>
        </p:nvSpPr>
        <p:spPr>
          <a:xfrm>
            <a:off x="3447288" y="3145536"/>
            <a:ext cx="2395728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8890">
            <a:solidFill>
              <a:srgbClr val="FF9F1C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3584448" y="3310128"/>
            <a:ext cx="329184" cy="329184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584448" y="3392424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014216" y="3291840"/>
            <a:ext cx="16824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服务端校验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4014216" y="3584448"/>
            <a:ext cx="168249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写入前再次检查金额、日期、分类</a:t>
            </a:r>
            <a:endParaRPr lang="en-US" sz="970" dirty="0"/>
          </a:p>
        </p:txBody>
      </p:sp>
      <p:sp>
        <p:nvSpPr>
          <p:cNvPr id="43" name="Text 40"/>
          <p:cNvSpPr/>
          <p:nvPr/>
        </p:nvSpPr>
        <p:spPr>
          <a:xfrm>
            <a:off x="768096" y="4443984"/>
            <a:ext cx="52120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体验策略：把“必填项”前置，把“情绪和照片”做成可选表达。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INNOVATION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小橘对话记账：从一句话到多笔账单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932688"/>
            <a:ext cx="1956816" cy="3968496"/>
          </a:xfrm>
          <a:prstGeom prst="roundRect">
            <a:avLst>
              <a:gd name="adj" fmla="val 1168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小橘帮忙记账的界面展示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6" y="941832"/>
            <a:ext cx="1849124" cy="395020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59536" y="4553712"/>
            <a:ext cx="155448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4608576"/>
            <a:ext cx="140817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对话记账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182112" y="1051560"/>
            <a:ext cx="4901184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8890">
            <a:solidFill>
              <a:srgbClr val="27C07D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19272" y="1216152"/>
            <a:ext cx="329184" cy="329184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19272" y="1298448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749040" y="1197864"/>
            <a:ext cx="418795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用户口语输入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749040" y="1490472"/>
            <a:ext cx="418795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如“中午吃饭 20，打印文件 5 元”</a:t>
            </a:r>
            <a:endParaRPr lang="en-US" sz="970" dirty="0"/>
          </a:p>
        </p:txBody>
      </p:sp>
      <p:sp>
        <p:nvSpPr>
          <p:cNvPr id="18" name="Shape 15"/>
          <p:cNvSpPr/>
          <p:nvPr/>
        </p:nvSpPr>
        <p:spPr>
          <a:xfrm>
            <a:off x="5486400" y="1709928"/>
            <a:ext cx="0" cy="164592"/>
          </a:xfrm>
          <a:prstGeom prst="line">
            <a:avLst/>
          </a:prstGeom>
          <a:noFill/>
          <a:ln w="12700">
            <a:solidFill>
              <a:srgbClr val="CFE5D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182112" y="1892808"/>
            <a:ext cx="4901184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8890">
            <a:solidFill>
              <a:srgbClr val="FF9F1C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319272" y="2057400"/>
            <a:ext cx="329184" cy="329184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19272" y="2139696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749040" y="2039112"/>
            <a:ext cx="418795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结构化解析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749040" y="2331720"/>
            <a:ext cx="418795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intent / reply / bills 严格 JSON</a:t>
            </a:r>
            <a:endParaRPr lang="en-US" sz="970" dirty="0"/>
          </a:p>
        </p:txBody>
      </p:sp>
      <p:sp>
        <p:nvSpPr>
          <p:cNvPr id="24" name="Shape 21"/>
          <p:cNvSpPr/>
          <p:nvPr/>
        </p:nvSpPr>
        <p:spPr>
          <a:xfrm>
            <a:off x="5486400" y="2551176"/>
            <a:ext cx="0" cy="164592"/>
          </a:xfrm>
          <a:prstGeom prst="line">
            <a:avLst/>
          </a:prstGeom>
          <a:noFill/>
          <a:ln w="12700">
            <a:solidFill>
              <a:srgbClr val="CFE5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182112" y="2734056"/>
            <a:ext cx="4901184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8890">
            <a:solidFill>
              <a:srgbClr val="27C07D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319272" y="2898648"/>
            <a:ext cx="329184" cy="329184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19272" y="2980944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749040" y="2880360"/>
            <a:ext cx="418795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用户确认卡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749040" y="3172968"/>
            <a:ext cx="418795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金额、备注可编辑，可删除行</a:t>
            </a:r>
            <a:endParaRPr lang="en-US" sz="970" dirty="0"/>
          </a:p>
        </p:txBody>
      </p:sp>
      <p:sp>
        <p:nvSpPr>
          <p:cNvPr id="30" name="Shape 27"/>
          <p:cNvSpPr/>
          <p:nvPr/>
        </p:nvSpPr>
        <p:spPr>
          <a:xfrm>
            <a:off x="5486400" y="3392424"/>
            <a:ext cx="0" cy="164592"/>
          </a:xfrm>
          <a:prstGeom prst="line">
            <a:avLst/>
          </a:prstGeom>
          <a:noFill/>
          <a:ln w="12700">
            <a:solidFill>
              <a:srgbClr val="CFE5D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182112" y="3575304"/>
            <a:ext cx="4901184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8890">
            <a:solidFill>
              <a:srgbClr val="27C07D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319272" y="3739896"/>
            <a:ext cx="329184" cy="329184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319272" y="3822192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749040" y="3721608"/>
            <a:ext cx="418795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批量写入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3749040" y="4014216"/>
            <a:ext cx="418795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bills.batchCreate，单次最多 10 笔</a:t>
            </a:r>
            <a:endParaRPr lang="en-US" sz="970" dirty="0"/>
          </a:p>
        </p:txBody>
      </p:sp>
      <p:sp>
        <p:nvSpPr>
          <p:cNvPr id="36" name="Shape 33"/>
          <p:cNvSpPr/>
          <p:nvPr/>
        </p:nvSpPr>
        <p:spPr>
          <a:xfrm>
            <a:off x="3182112" y="4407408"/>
            <a:ext cx="4901184" cy="347472"/>
          </a:xfrm>
          <a:prstGeom prst="roundRect">
            <a:avLst>
              <a:gd name="adj" fmla="val 31579"/>
            </a:avLst>
          </a:prstGeom>
          <a:solidFill>
            <a:srgbClr val="FFF0D5"/>
          </a:solidFill>
          <a:ln w="8890">
            <a:solidFill>
              <a:srgbClr val="FFF0D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310128" y="4507992"/>
            <a:ext cx="4608576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核心创新：AI 负责理解口语，用户保留最终确认权，服务端兜底校验。</a:t>
            </a:r>
            <a:endParaRPr lang="en-US" sz="10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INNOVATION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小橘账单问答：AI 不编数字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37376" y="932688"/>
            <a:ext cx="1865376" cy="3968496"/>
          </a:xfrm>
          <a:prstGeom prst="roundRect">
            <a:avLst>
              <a:gd name="adj" fmla="val 122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65392" y="4553712"/>
            <a:ext cx="155448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38544" y="4608576"/>
            <a:ext cx="140817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账单问答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76656" y="1170432"/>
            <a:ext cx="13716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问题示例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58368" y="1591056"/>
            <a:ext cx="1600200" cy="256032"/>
          </a:xfrm>
          <a:prstGeom prst="roundRect">
            <a:avLst>
              <a:gd name="adj" fmla="val 46429"/>
            </a:avLst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1645920"/>
            <a:ext cx="14538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这周花了多少钱？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532888" y="1591056"/>
            <a:ext cx="1600200" cy="256032"/>
          </a:xfrm>
          <a:prstGeom prst="roundRect">
            <a:avLst>
              <a:gd name="adj" fmla="val 46429"/>
            </a:avLst>
          </a:prstGeom>
          <a:solidFill>
            <a:srgbClr val="FFF0D5"/>
          </a:solidFill>
          <a:ln w="12700">
            <a:solidFill>
              <a:srgbClr val="FFF0D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06040" y="1645920"/>
            <a:ext cx="14538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本月哪类花得最多？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58368" y="2066544"/>
            <a:ext cx="1600200" cy="256032"/>
          </a:xfrm>
          <a:prstGeom prst="roundRect">
            <a:avLst>
              <a:gd name="adj" fmla="val 46429"/>
            </a:avLst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2121408"/>
            <a:ext cx="14538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这周比上周省了多少？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532888" y="2066544"/>
            <a:ext cx="1600200" cy="256032"/>
          </a:xfrm>
          <a:prstGeom prst="roundRect">
            <a:avLst>
              <a:gd name="adj" fmla="val 46429"/>
            </a:avLst>
          </a:prstGeom>
          <a:solidFill>
            <a:srgbClr val="FFF0D5"/>
          </a:solidFill>
          <a:ln w="12700">
            <a:solidFill>
              <a:srgbClr val="FFF0D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606040" y="2121408"/>
            <a:ext cx="14538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今天记了几笔？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58368" y="2761488"/>
            <a:ext cx="5212080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  <a:effectLst>
            <a:outerShdw blurRad="1905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77824" y="2944368"/>
            <a:ext cx="10972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工程策略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877824" y="3328416"/>
            <a:ext cx="473659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解析时间范围和问题类型 → 云函数查询 bills → 确定性计算金额 / 分类 / 笔数 → AI 用自然语言表达结果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58368" y="4261104"/>
            <a:ext cx="5212080" cy="411480"/>
          </a:xfrm>
          <a:prstGeom prst="roundRect">
            <a:avLst>
              <a:gd name="adj" fmla="val 31111"/>
            </a:avLst>
          </a:prstGeom>
          <a:solidFill>
            <a:srgbClr val="0F1F19"/>
          </a:solidFill>
          <a:ln w="8890">
            <a:solidFill>
              <a:srgbClr val="0F1F19"/>
            </a:solidFill>
            <a:prstDash val="solid"/>
          </a:ln>
          <a:effectLst>
            <a:outerShdw blurRad="19050" dist="1016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77824" y="4407408"/>
            <a:ext cx="475488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让大模型参与表达，不让它决定账本里的数字。</a:t>
            </a:r>
            <a:endParaRPr lang="en-US" sz="1150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4E67F5DB-5EFC-9DFA-4AF6-42221F312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530352"/>
            <a:ext cx="1865376" cy="39380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EXPERIENCE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统计复盘：从流水到反馈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13232" y="932688"/>
            <a:ext cx="1865376" cy="3968496"/>
          </a:xfrm>
          <a:prstGeom prst="roundRect">
            <a:avLst>
              <a:gd name="adj" fmla="val 122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统计页面展示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949386"/>
            <a:ext cx="1847088" cy="3935101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41248" y="4553712"/>
            <a:ext cx="155448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4608576"/>
            <a:ext cx="140817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统计页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852928" y="1024128"/>
            <a:ext cx="1801368" cy="3785616"/>
          </a:xfrm>
          <a:prstGeom prst="roundRect">
            <a:avLst>
              <a:gd name="adj" fmla="val 1269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小橘的便签展示界面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3416" y="1033272"/>
            <a:ext cx="1780393" cy="376732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980944" y="4462272"/>
            <a:ext cx="1545336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054096" y="4517136"/>
            <a:ext cx="139903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小橘便签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5230368" y="1344168"/>
            <a:ext cx="420624" cy="420624"/>
          </a:xfrm>
          <a:prstGeom prst="ellipse">
            <a:avLst/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230368" y="1453896"/>
            <a:ext cx="42062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376672" y="1490472"/>
            <a:ext cx="128016" cy="128016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760720" y="1325880"/>
            <a:ext cx="25603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趋势折线</a:t>
            </a:r>
            <a:endParaRPr lang="en-US" sz="1380" dirty="0"/>
          </a:p>
        </p:txBody>
      </p:sp>
      <p:sp>
        <p:nvSpPr>
          <p:cNvPr id="22" name="Text 18"/>
          <p:cNvSpPr/>
          <p:nvPr/>
        </p:nvSpPr>
        <p:spPr>
          <a:xfrm>
            <a:off x="5760720" y="1600200"/>
            <a:ext cx="25603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 30 天消费变化直观呈现，当前值与均值对比。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230368" y="2121408"/>
            <a:ext cx="420624" cy="420624"/>
          </a:xfrm>
          <a:prstGeom prst="ellipse">
            <a:avLst/>
          </a:prstGeom>
          <a:solidFill>
            <a:srgbClr val="FFF0D5"/>
          </a:solidFill>
          <a:ln w="12700">
            <a:solidFill>
              <a:srgbClr val="FFF0D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230368" y="2231136"/>
            <a:ext cx="42062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5376672" y="2267712"/>
            <a:ext cx="128016" cy="12801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760720" y="2103120"/>
            <a:ext cx="25603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支出排行</a:t>
            </a:r>
            <a:endParaRPr lang="en-US" sz="1380" dirty="0"/>
          </a:p>
        </p:txBody>
      </p:sp>
      <p:sp>
        <p:nvSpPr>
          <p:cNvPr id="27" name="Text 23"/>
          <p:cNvSpPr/>
          <p:nvPr/>
        </p:nvSpPr>
        <p:spPr>
          <a:xfrm>
            <a:off x="5760720" y="2377440"/>
            <a:ext cx="25603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分类金额与占比进度条，帮助用户理解钱去哪了。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5230368" y="2898648"/>
            <a:ext cx="420624" cy="420624"/>
          </a:xfrm>
          <a:prstGeom prst="ellipse">
            <a:avLst/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230368" y="3008376"/>
            <a:ext cx="42062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5376672" y="3044952"/>
            <a:ext cx="128016" cy="128016"/>
          </a:xfrm>
          <a:prstGeom prst="ellipse">
            <a:avLst/>
          </a:prstGeom>
          <a:solidFill>
            <a:srgbClr val="5BA4CB"/>
          </a:solidFill>
          <a:ln w="12700">
            <a:solidFill>
              <a:srgbClr val="5BA4C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760720" y="2880360"/>
            <a:ext cx="25603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便签</a:t>
            </a:r>
            <a:endParaRPr lang="en-US" sz="1380" dirty="0"/>
          </a:p>
        </p:txBody>
      </p:sp>
      <p:sp>
        <p:nvSpPr>
          <p:cNvPr id="32" name="Text 28"/>
          <p:cNvSpPr/>
          <p:nvPr/>
        </p:nvSpPr>
        <p:spPr>
          <a:xfrm>
            <a:off x="5760720" y="3154680"/>
            <a:ext cx="25603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昨日 / 上周 / 上月三张评论卡，缓存 periodKey，失败可重试。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5230368" y="3675888"/>
            <a:ext cx="420624" cy="420624"/>
          </a:xfrm>
          <a:prstGeom prst="ellipse">
            <a:avLst/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230368" y="3785616"/>
            <a:ext cx="42062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5376672" y="382219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760720" y="3657600"/>
            <a:ext cx="25603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退避重试</a:t>
            </a:r>
            <a:endParaRPr lang="en-US" sz="1380" dirty="0"/>
          </a:p>
        </p:txBody>
      </p:sp>
      <p:sp>
        <p:nvSpPr>
          <p:cNvPr id="37" name="Text 33"/>
          <p:cNvSpPr/>
          <p:nvPr/>
        </p:nvSpPr>
        <p:spPr>
          <a:xfrm>
            <a:off x="5760720" y="3931920"/>
            <a:ext cx="25603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混元 streamText 串行调用，429 时指数退避。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EXPERIENCE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我的成长体系：把记账变成长期陪伴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94944" y="932688"/>
            <a:ext cx="1847088" cy="3968496"/>
          </a:xfrm>
          <a:prstGeom prst="roundRect">
            <a:avLst>
              <a:gd name="adj" fmla="val 1237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我的页面展示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985606"/>
            <a:ext cx="1828800" cy="38626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22960" y="4553712"/>
            <a:ext cx="155448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4608576"/>
            <a:ext cx="140817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zh-CN" alt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</a:t>
            </a: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</a:t>
            </a:r>
            <a:r>
              <a:rPr lang="zh-CN" alt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734056" y="932688"/>
            <a:ext cx="1847088" cy="3968496"/>
          </a:xfrm>
          <a:prstGeom prst="roundRect">
            <a:avLst>
              <a:gd name="adj" fmla="val 1237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小橘心里话功能界面展示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958116"/>
            <a:ext cx="1828800" cy="3917639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862072" y="4553712"/>
            <a:ext cx="155448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935224" y="4608576"/>
            <a:ext cx="140817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心里话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4773168" y="1115568"/>
            <a:ext cx="1627632" cy="3584448"/>
          </a:xfrm>
          <a:prstGeom prst="roundRect">
            <a:avLst>
              <a:gd name="adj" fmla="val 1404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2" descr="称号数据展示界面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1189148"/>
            <a:ext cx="1609344" cy="3437287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901184" y="4352544"/>
            <a:ext cx="137160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974336" y="4407408"/>
            <a:ext cx="12252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今日称号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6839712" y="1133856"/>
            <a:ext cx="1627632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8890">
            <a:solidFill>
              <a:srgbClr val="27C07D">
                <a:alpha val="75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7022592" y="1316736"/>
            <a:ext cx="113385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记账足迹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6839712" y="2139696"/>
            <a:ext cx="1627632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8890">
            <a:solidFill>
              <a:srgbClr val="FF9F1C">
                <a:alpha val="75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7022592" y="2322576"/>
            <a:ext cx="113385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信件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6839712" y="3145536"/>
            <a:ext cx="1627632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8890">
            <a:solidFill>
              <a:srgbClr val="5BA4CB">
                <a:alpha val="75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7022592" y="3328416"/>
            <a:ext cx="113385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BA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每日称号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6172200" y="4315968"/>
            <a:ext cx="2560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从“记录消费”升级为“记录生活状态”。</a:t>
            </a:r>
            <a:endParaRPr lang="en-US" sz="12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主题个性化：Design Token 驱动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  <p:pic>
        <p:nvPicPr>
          <p:cNvPr id="10" name="Image 0" descr="主题选择与设置界面展示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010915"/>
            <a:ext cx="1810512" cy="3812041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41248" y="4553712"/>
            <a:ext cx="155448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4608576"/>
            <a:ext cx="140817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主题选择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944368" y="1060704"/>
            <a:ext cx="5440680" cy="914400"/>
          </a:xfrm>
          <a:prstGeom prst="roundRect">
            <a:avLst>
              <a:gd name="adj" fmla="val 18000"/>
            </a:avLst>
          </a:prstGeom>
          <a:solidFill>
            <a:srgbClr val="EAF8F1"/>
          </a:solidFill>
          <a:ln w="8890">
            <a:solidFill>
              <a:srgbClr val="EAF8F1"/>
            </a:solidFill>
            <a:prstDash val="solid"/>
          </a:ln>
          <a:effectLst>
            <a:outerShdw blurRad="19050" dist="1016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182112" y="1261872"/>
            <a:ext cx="150876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60+ CSS 变量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828032" y="1243584"/>
            <a:ext cx="3154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颜色、渐变、阴影、字号、语义色集中管理，页面统一注入 themeStyle。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2944368" y="2249424"/>
            <a:ext cx="2395728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  <a:effectLst>
            <a:outerShdw blurRad="19050" dist="10160" dir="2700000" algn="bl" rotWithShape="0">
              <a:srgbClr val="000000">
                <a:alpha val="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072384" y="2423160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01568" y="2377440"/>
            <a:ext cx="13716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7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--color-primary</a:t>
            </a:r>
            <a:endParaRPr lang="en-US" sz="860" dirty="0"/>
          </a:p>
        </p:txBody>
      </p:sp>
      <p:sp>
        <p:nvSpPr>
          <p:cNvPr id="19" name="Text 16"/>
          <p:cNvSpPr/>
          <p:nvPr/>
        </p:nvSpPr>
        <p:spPr>
          <a:xfrm>
            <a:off x="3401568" y="2578608"/>
            <a:ext cx="14630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#27c07d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687568" y="2249424"/>
            <a:ext cx="2395728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  <a:effectLst>
            <a:outerShdw blurRad="19050" dist="10160" dir="2700000" algn="bl" rotWithShape="0">
              <a:srgbClr val="000000">
                <a:alpha val="4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15584" y="2423160"/>
            <a:ext cx="228600" cy="228600"/>
          </a:xfrm>
          <a:prstGeom prst="ellipse">
            <a:avLst/>
          </a:prstGeom>
          <a:solidFill>
            <a:srgbClr val="5BA4CB"/>
          </a:solidFill>
          <a:ln w="12700">
            <a:solidFill>
              <a:srgbClr val="5BA4C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44768" y="2377440"/>
            <a:ext cx="13716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7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--color-accent</a:t>
            </a:r>
            <a:endParaRPr lang="en-US" sz="860" dirty="0"/>
          </a:p>
        </p:txBody>
      </p:sp>
      <p:sp>
        <p:nvSpPr>
          <p:cNvPr id="23" name="Text 20"/>
          <p:cNvSpPr/>
          <p:nvPr/>
        </p:nvSpPr>
        <p:spPr>
          <a:xfrm>
            <a:off x="6144768" y="2578608"/>
            <a:ext cx="14630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#5ba4cb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944368" y="3090672"/>
            <a:ext cx="2395728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  <a:effectLst>
            <a:outerShdw blurRad="19050" dist="10160" dir="2700000" algn="bl" rotWithShape="0">
              <a:srgbClr val="000000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072384" y="3264408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01568" y="3218688"/>
            <a:ext cx="13716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7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--gradient-hero</a:t>
            </a:r>
            <a:endParaRPr lang="en-US" sz="860" dirty="0"/>
          </a:p>
        </p:txBody>
      </p:sp>
      <p:sp>
        <p:nvSpPr>
          <p:cNvPr id="27" name="Text 24"/>
          <p:cNvSpPr/>
          <p:nvPr/>
        </p:nvSpPr>
        <p:spPr>
          <a:xfrm>
            <a:off x="3401568" y="3419856"/>
            <a:ext cx="14630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primary → accent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687568" y="3090672"/>
            <a:ext cx="2395728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  <a:effectLst>
            <a:outerShdw blurRad="19050" dist="10160" dir="2700000" algn="bl" rotWithShape="0">
              <a:srgbClr val="000000">
                <a:alpha val="4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815584" y="3264408"/>
            <a:ext cx="228600" cy="2286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44768" y="3218688"/>
            <a:ext cx="13716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7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--shadow-card</a:t>
            </a:r>
            <a:endParaRPr lang="en-US" sz="860" dirty="0"/>
          </a:p>
        </p:txBody>
      </p:sp>
      <p:sp>
        <p:nvSpPr>
          <p:cNvPr id="31" name="Text 28"/>
          <p:cNvSpPr/>
          <p:nvPr/>
        </p:nvSpPr>
        <p:spPr>
          <a:xfrm>
            <a:off x="6144768" y="3419856"/>
            <a:ext cx="14630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高光 + 深影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2962656" y="4224528"/>
            <a:ext cx="53035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套预设主题 + 8 色自定义调色板 + 最多 5 个用户命名主题。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85216" y="512064"/>
            <a:ext cx="274320" cy="27432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603504"/>
            <a:ext cx="23774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21792" y="1389888"/>
            <a:ext cx="29260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58368" y="2157984"/>
            <a:ext cx="42062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FEF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原生小程序 + CloudBase Serverless + 腾讯混元大模型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175504" y="841248"/>
            <a:ext cx="3154680" cy="530352"/>
          </a:xfrm>
          <a:prstGeom prst="roundRect">
            <a:avLst>
              <a:gd name="adj" fmla="val 20690"/>
            </a:avLst>
          </a:prstGeom>
          <a:solidFill>
            <a:srgbClr val="143027"/>
          </a:solidFill>
          <a:ln w="8890">
            <a:solidFill>
              <a:srgbClr val="24483C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76672" y="987552"/>
            <a:ext cx="5943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089904" y="987552"/>
            <a:ext cx="17373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WXML / WXSS / JS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5175504" y="1645920"/>
            <a:ext cx="3154680" cy="530352"/>
          </a:xfrm>
          <a:prstGeom prst="roundRect">
            <a:avLst>
              <a:gd name="adj" fmla="val 20690"/>
            </a:avLst>
          </a:prstGeom>
          <a:solidFill>
            <a:srgbClr val="18322A"/>
          </a:solidFill>
          <a:ln w="8890">
            <a:solidFill>
              <a:srgbClr val="24483C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76672" y="1792224"/>
            <a:ext cx="5943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089904" y="1792224"/>
            <a:ext cx="17373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个有效云函数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5175504" y="2450592"/>
            <a:ext cx="3154680" cy="530352"/>
          </a:xfrm>
          <a:prstGeom prst="roundRect">
            <a:avLst>
              <a:gd name="adj" fmla="val 20690"/>
            </a:avLst>
          </a:prstGeom>
          <a:solidFill>
            <a:srgbClr val="143027"/>
          </a:solidFill>
          <a:ln w="8890">
            <a:solidFill>
              <a:srgbClr val="24483C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76672" y="2596896"/>
            <a:ext cx="5943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089904" y="2596896"/>
            <a:ext cx="17373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NoSQL / 云存储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175504" y="3255264"/>
            <a:ext cx="3154680" cy="530352"/>
          </a:xfrm>
          <a:prstGeom prst="roundRect">
            <a:avLst>
              <a:gd name="adj" fmla="val 20690"/>
            </a:avLst>
          </a:prstGeom>
          <a:solidFill>
            <a:srgbClr val="18322A"/>
          </a:solidFill>
          <a:ln w="8890">
            <a:solidFill>
              <a:srgbClr val="24483C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76672" y="3401568"/>
            <a:ext cx="5943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6089904" y="3401568"/>
            <a:ext cx="17373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hy3-preview / 内容安全</a:t>
            </a:r>
            <a:endParaRPr lang="en-US" sz="1060" dirty="0"/>
          </a:p>
        </p:txBody>
      </p:sp>
      <p:pic>
        <p:nvPicPr>
          <p:cNvPr id="20" name="Image 0" descr="小橘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3611880"/>
            <a:ext cx="950976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系统五层架构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12064" y="987552"/>
            <a:ext cx="6126480" cy="3767328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9" name="Image 0" descr="图2-1_橘记系统五层架构图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26" y="987552"/>
            <a:ext cx="5758774" cy="376732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912864" y="1133856"/>
            <a:ext cx="1664208" cy="566928"/>
          </a:xfrm>
          <a:prstGeom prst="roundRect">
            <a:avLst>
              <a:gd name="adj" fmla="val 19355"/>
            </a:avLst>
          </a:prstGeom>
          <a:solidFill>
            <a:srgbClr val="E8F5FB"/>
          </a:solidFill>
          <a:ln w="8890">
            <a:solidFill>
              <a:srgbClr val="CFE5D8"/>
            </a:solidFill>
            <a:prstDash val="solid"/>
          </a:ln>
          <a:effectLst>
            <a:outerShdw blurRad="19050" dist="10160" dir="2700000" algn="bl" rotWithShape="0">
              <a:srgbClr val="000000">
                <a:alpha val="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059168" y="1261872"/>
            <a:ext cx="67665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574604" y="1252728"/>
            <a:ext cx="819588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个页面 + 自定义 TabBar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912864" y="1920240"/>
            <a:ext cx="1664208" cy="566928"/>
          </a:xfrm>
          <a:prstGeom prst="roundRect">
            <a:avLst>
              <a:gd name="adj" fmla="val 19355"/>
            </a:avLst>
          </a:prstGeom>
          <a:solidFill>
            <a:srgbClr val="EAF8F1"/>
          </a:solidFill>
          <a:ln w="8890">
            <a:solidFill>
              <a:srgbClr val="CFE5D8"/>
            </a:solidFill>
            <a:prstDash val="solid"/>
          </a:ln>
          <a:effectLst>
            <a:outerShdw blurRad="19050" dist="10160" dir="2700000" algn="bl" rotWithShape="0">
              <a:srgbClr val="000000">
                <a:alpha val="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059168" y="2048256"/>
            <a:ext cx="67665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635240" y="2039112"/>
            <a:ext cx="941832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 / eventBus / validate / monitor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912864" y="2706624"/>
            <a:ext cx="1664208" cy="566928"/>
          </a:xfrm>
          <a:prstGeom prst="roundRect">
            <a:avLst>
              <a:gd name="adj" fmla="val 19355"/>
            </a:avLst>
          </a:prstGeom>
          <a:solidFill>
            <a:srgbClr val="E8F5FB"/>
          </a:solidFill>
          <a:ln w="8890">
            <a:solidFill>
              <a:srgbClr val="CFE5D8"/>
            </a:solidFill>
            <a:prstDash val="solid"/>
          </a:ln>
          <a:effectLst>
            <a:outerShdw blurRad="19050" dist="10160" dir="2700000" algn="bl" rotWithShape="0">
              <a:srgbClr val="000000">
                <a:alpha val="4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059168" y="2834640"/>
            <a:ext cx="67665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699248" y="2825496"/>
            <a:ext cx="87782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账单、预算、AI、迁移、内容安全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912864" y="3493008"/>
            <a:ext cx="1664208" cy="566928"/>
          </a:xfrm>
          <a:prstGeom prst="roundRect">
            <a:avLst>
              <a:gd name="adj" fmla="val 19355"/>
            </a:avLst>
          </a:prstGeom>
          <a:solidFill>
            <a:srgbClr val="EAF8F1"/>
          </a:solidFill>
          <a:ln w="8890">
            <a:solidFill>
              <a:srgbClr val="CFE5D8"/>
            </a:solidFill>
            <a:prstDash val="solid"/>
          </a:ln>
          <a:effectLst>
            <a:outerShdw blurRad="19050" dist="10160" dir="2700000" algn="bl" rotWithShape="0">
              <a:srgbClr val="000000">
                <a:alpha val="4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059168" y="3621024"/>
            <a:ext cx="67665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574604" y="3611880"/>
            <a:ext cx="100246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NoSQL + 云存储 + 混元模型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数据访问设计：读写分离 + OPENID 隔离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950976"/>
            <a:ext cx="5852160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9" name="Image 0" descr="图2-1_数据访问架构图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22" y="950976"/>
            <a:ext cx="5355771" cy="3749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56832" y="1133856"/>
            <a:ext cx="420624" cy="420624"/>
          </a:xfrm>
          <a:prstGeom prst="ellipse">
            <a:avLst/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56832" y="1243584"/>
            <a:ext cx="42062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803136" y="1280160"/>
            <a:ext cx="128016" cy="128016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87184" y="1115568"/>
            <a:ext cx="12984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读取路径</a:t>
            </a:r>
            <a:endParaRPr lang="en-US" sz="1380" dirty="0"/>
          </a:p>
        </p:txBody>
      </p:sp>
      <p:sp>
        <p:nvSpPr>
          <p:cNvPr id="14" name="Text 11"/>
          <p:cNvSpPr/>
          <p:nvPr/>
        </p:nvSpPr>
        <p:spPr>
          <a:xfrm>
            <a:off x="7187184" y="1389888"/>
            <a:ext cx="12984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小程序页面直接使用 wx.cloud.database 查询当前用户数据。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656832" y="2103120"/>
            <a:ext cx="420624" cy="420624"/>
          </a:xfrm>
          <a:prstGeom prst="ellipse">
            <a:avLst/>
          </a:prstGeom>
          <a:solidFill>
            <a:srgbClr val="FFF0D5"/>
          </a:solidFill>
          <a:ln w="12700">
            <a:solidFill>
              <a:srgbClr val="FFF0D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56832" y="2212848"/>
            <a:ext cx="42062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803136" y="2249424"/>
            <a:ext cx="128016" cy="12801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87184" y="2084832"/>
            <a:ext cx="12984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写入路径</a:t>
            </a:r>
            <a:endParaRPr lang="en-US" sz="1380" dirty="0"/>
          </a:p>
        </p:txBody>
      </p:sp>
      <p:sp>
        <p:nvSpPr>
          <p:cNvPr id="19" name="Text 16"/>
          <p:cNvSpPr/>
          <p:nvPr/>
        </p:nvSpPr>
        <p:spPr>
          <a:xfrm>
            <a:off x="7187184" y="2359152"/>
            <a:ext cx="12984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新增、修改、删除通过云函数完成服务端校验。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656832" y="3072384"/>
            <a:ext cx="420624" cy="420624"/>
          </a:xfrm>
          <a:prstGeom prst="ellipse">
            <a:avLst/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56832" y="3182112"/>
            <a:ext cx="42062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803136" y="3218688"/>
            <a:ext cx="128016" cy="128016"/>
          </a:xfrm>
          <a:prstGeom prst="ellipse">
            <a:avLst/>
          </a:prstGeom>
          <a:solidFill>
            <a:srgbClr val="5BA4CB"/>
          </a:solidFill>
          <a:ln w="12700">
            <a:solidFill>
              <a:srgbClr val="5BA4C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87184" y="3054096"/>
            <a:ext cx="12984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身份来源</a:t>
            </a:r>
            <a:endParaRPr lang="en-US" sz="1380" dirty="0"/>
          </a:p>
        </p:txBody>
      </p:sp>
      <p:sp>
        <p:nvSpPr>
          <p:cNvPr id="24" name="Text 21"/>
          <p:cNvSpPr/>
          <p:nvPr/>
        </p:nvSpPr>
        <p:spPr>
          <a:xfrm>
            <a:off x="7187184" y="3328416"/>
            <a:ext cx="12984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服务端通过 cloud.getWXContext().OPENID 获取身份。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620256" y="4160520"/>
            <a:ext cx="1901952" cy="502920"/>
          </a:xfrm>
          <a:prstGeom prst="roundRect">
            <a:avLst>
              <a:gd name="adj" fmla="val 25455"/>
            </a:avLst>
          </a:prstGeom>
          <a:solidFill>
            <a:srgbClr val="0F1F19"/>
          </a:solidFill>
          <a:ln w="8890">
            <a:solidFill>
              <a:srgbClr val="0F1F19"/>
            </a:solidFill>
            <a:prstDash val="solid"/>
          </a:ln>
          <a:effectLst>
            <a:outerShdw blurRad="19050" dist="1016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784848" y="4352544"/>
            <a:ext cx="1572768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不信任客户端 openid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PIPELINE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工程链路：可控、可确认、可降级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12064" y="932688"/>
            <a:ext cx="6172200" cy="3822192"/>
          </a:xfrm>
          <a:prstGeom prst="roundRect">
            <a:avLst>
              <a:gd name="adj" fmla="val 3349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9" name="Image 0" descr="图6-2_对话记账运行流程图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415" y="932688"/>
            <a:ext cx="4467497" cy="38221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903720" y="1243584"/>
            <a:ext cx="1627632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8890">
            <a:solidFill>
              <a:srgbClr val="27C07D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040880" y="1408176"/>
            <a:ext cx="329184" cy="329184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40880" y="1490472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470648" y="1389888"/>
            <a:ext cx="9144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内容安全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470648" y="1682496"/>
            <a:ext cx="914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本地正则 + msgSecCheck v2</a:t>
            </a:r>
            <a:endParaRPr lang="en-US" sz="970" dirty="0"/>
          </a:p>
        </p:txBody>
      </p:sp>
      <p:sp>
        <p:nvSpPr>
          <p:cNvPr id="15" name="Shape 12"/>
          <p:cNvSpPr/>
          <p:nvPr/>
        </p:nvSpPr>
        <p:spPr>
          <a:xfrm>
            <a:off x="6903720" y="2249424"/>
            <a:ext cx="1627632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8890">
            <a:solidFill>
              <a:srgbClr val="FF9F1C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040880" y="2414016"/>
            <a:ext cx="329184" cy="329184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40880" y="2496312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470648" y="2395728"/>
            <a:ext cx="9144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结构输出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470648" y="2688336"/>
            <a:ext cx="914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 JSON + 容错解析</a:t>
            </a:r>
            <a:endParaRPr lang="en-US" sz="970" dirty="0"/>
          </a:p>
        </p:txBody>
      </p:sp>
      <p:sp>
        <p:nvSpPr>
          <p:cNvPr id="20" name="Shape 17"/>
          <p:cNvSpPr/>
          <p:nvPr/>
        </p:nvSpPr>
        <p:spPr>
          <a:xfrm>
            <a:off x="6903720" y="3255264"/>
            <a:ext cx="1627632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8890">
            <a:solidFill>
              <a:srgbClr val="BA1A1A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040880" y="3419856"/>
            <a:ext cx="329184" cy="329184"/>
          </a:xfrm>
          <a:prstGeom prst="ellipse">
            <a:avLst/>
          </a:prstGeom>
          <a:solidFill>
            <a:srgbClr val="BA1A1A"/>
          </a:solidFill>
          <a:ln w="12700">
            <a:solidFill>
              <a:srgbClr val="BA1A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40880" y="3502152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470648" y="3401568"/>
            <a:ext cx="9144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失败降级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470648" y="3694176"/>
            <a:ext cx="914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FALLBACK_REPLY，不写入异常账单</a:t>
            </a:r>
            <a:endParaRPr lang="en-US" sz="97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数据模型：5 个集合支撑完整闭环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932688"/>
            <a:ext cx="5943600" cy="3822192"/>
          </a:xfrm>
          <a:prstGeom prst="roundRect">
            <a:avLst>
              <a:gd name="adj" fmla="val 3349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9" name="Image 0" descr="图3-1_数据模型实体关系图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980" y="932688"/>
            <a:ext cx="5548343" cy="38221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93408" y="1005840"/>
            <a:ext cx="187452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8890">
            <a:solidFill>
              <a:srgbClr val="FF9F1C">
                <a:alpha val="72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839712" y="1097280"/>
            <a:ext cx="89611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bills</a:t>
            </a:r>
            <a:endParaRPr lang="en-US" sz="870" dirty="0"/>
          </a:p>
        </p:txBody>
      </p:sp>
      <p:sp>
        <p:nvSpPr>
          <p:cNvPr id="12" name="Text 9"/>
          <p:cNvSpPr/>
          <p:nvPr/>
        </p:nvSpPr>
        <p:spPr>
          <a:xfrm>
            <a:off x="7172528" y="1051560"/>
            <a:ext cx="1395400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账单流水</a:t>
            </a:r>
            <a:endParaRPr lang="en-US" sz="660" dirty="0"/>
          </a:p>
          <a:p>
            <a:pPr marL="0" indent="0" algn="l">
              <a:buNone/>
            </a:pPr>
            <a:r>
              <a:rPr lang="en-US" sz="66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金额、分类、日期、照片、心情</a:t>
            </a:r>
            <a:endParaRPr lang="en-US" sz="660" dirty="0"/>
          </a:p>
        </p:txBody>
      </p:sp>
      <p:sp>
        <p:nvSpPr>
          <p:cNvPr id="13" name="Shape 10"/>
          <p:cNvSpPr/>
          <p:nvPr/>
        </p:nvSpPr>
        <p:spPr>
          <a:xfrm>
            <a:off x="6693408" y="1700784"/>
            <a:ext cx="187452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8890">
            <a:solidFill>
              <a:srgbClr val="5BA4CB">
                <a:alpha val="72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839712" y="1792224"/>
            <a:ext cx="89611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BA4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budgets</a:t>
            </a:r>
            <a:endParaRPr lang="en-US" sz="870" dirty="0"/>
          </a:p>
        </p:txBody>
      </p:sp>
      <p:sp>
        <p:nvSpPr>
          <p:cNvPr id="15" name="Text 12"/>
          <p:cNvSpPr/>
          <p:nvPr/>
        </p:nvSpPr>
        <p:spPr>
          <a:xfrm>
            <a:off x="7237379" y="1746504"/>
            <a:ext cx="1330549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预算记录</a:t>
            </a:r>
            <a:endParaRPr lang="en-US" sz="660" dirty="0"/>
          </a:p>
          <a:p>
            <a:pPr marL="0" indent="0" algn="l">
              <a:buNone/>
            </a:pPr>
            <a:r>
              <a:rPr lang="en-US" sz="66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按月 upsert，一月一条</a:t>
            </a:r>
            <a:endParaRPr lang="en-US" sz="660" dirty="0"/>
          </a:p>
        </p:txBody>
      </p:sp>
      <p:sp>
        <p:nvSpPr>
          <p:cNvPr id="16" name="Shape 13"/>
          <p:cNvSpPr/>
          <p:nvPr/>
        </p:nvSpPr>
        <p:spPr>
          <a:xfrm>
            <a:off x="6693408" y="2395728"/>
            <a:ext cx="187452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8890">
            <a:solidFill>
              <a:srgbClr val="27C07D">
                <a:alpha val="72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3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839712" y="2487168"/>
            <a:ext cx="89611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27C0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870" dirty="0"/>
          </a:p>
        </p:txBody>
      </p:sp>
      <p:sp>
        <p:nvSpPr>
          <p:cNvPr id="18" name="Text 15"/>
          <p:cNvSpPr/>
          <p:nvPr/>
        </p:nvSpPr>
        <p:spPr>
          <a:xfrm>
            <a:off x="7237379" y="2441448"/>
            <a:ext cx="1330549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用户资料</a:t>
            </a:r>
            <a:endParaRPr lang="en-US" sz="660" dirty="0"/>
          </a:p>
          <a:p>
            <a:pPr marL="0" indent="0" algn="l">
              <a:buNone/>
            </a:pPr>
            <a:r>
              <a:rPr lang="en-US" sz="66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头像、主题、自定义分类</a:t>
            </a:r>
            <a:endParaRPr lang="en-US" sz="660" dirty="0"/>
          </a:p>
        </p:txBody>
      </p:sp>
      <p:sp>
        <p:nvSpPr>
          <p:cNvPr id="19" name="Shape 16"/>
          <p:cNvSpPr/>
          <p:nvPr/>
        </p:nvSpPr>
        <p:spPr>
          <a:xfrm>
            <a:off x="6693408" y="3090672"/>
            <a:ext cx="187452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8890">
            <a:solidFill>
              <a:srgbClr val="8B5CF6">
                <a:alpha val="72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3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839712" y="3182112"/>
            <a:ext cx="89611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ai_usage_limits</a:t>
            </a:r>
            <a:endParaRPr lang="en-US" sz="870" dirty="0"/>
          </a:p>
        </p:txBody>
      </p:sp>
      <p:sp>
        <p:nvSpPr>
          <p:cNvPr id="21" name="Text 18"/>
          <p:cNvSpPr/>
          <p:nvPr/>
        </p:nvSpPr>
        <p:spPr>
          <a:xfrm>
            <a:off x="7699248" y="3136392"/>
            <a:ext cx="9144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限流</a:t>
            </a:r>
            <a:endParaRPr lang="en-US" sz="660" dirty="0"/>
          </a:p>
          <a:p>
            <a:pPr marL="0" indent="0" algn="l">
              <a:buNone/>
            </a:pPr>
            <a:r>
              <a:rPr lang="en-US" sz="66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openid_date_feature 幂等 ID</a:t>
            </a:r>
            <a:endParaRPr lang="en-US" sz="660" dirty="0"/>
          </a:p>
        </p:txBody>
      </p:sp>
      <p:sp>
        <p:nvSpPr>
          <p:cNvPr id="22" name="Shape 19"/>
          <p:cNvSpPr/>
          <p:nvPr/>
        </p:nvSpPr>
        <p:spPr>
          <a:xfrm>
            <a:off x="6693408" y="3785616"/>
            <a:ext cx="187452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8890">
            <a:solidFill>
              <a:srgbClr val="FB7299">
                <a:alpha val="72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3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839712" y="3877056"/>
            <a:ext cx="89611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FB7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client_logs</a:t>
            </a:r>
            <a:endParaRPr lang="en-US" sz="870" dirty="0"/>
          </a:p>
        </p:txBody>
      </p:sp>
      <p:sp>
        <p:nvSpPr>
          <p:cNvPr id="24" name="Text 21"/>
          <p:cNvSpPr/>
          <p:nvPr/>
        </p:nvSpPr>
        <p:spPr>
          <a:xfrm>
            <a:off x="7516368" y="3831336"/>
            <a:ext cx="10515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异常日志</a:t>
            </a:r>
            <a:endParaRPr lang="en-US" sz="660" dirty="0"/>
          </a:p>
          <a:p>
            <a:pPr marL="0" indent="0" algn="l">
              <a:buNone/>
            </a:pPr>
            <a:r>
              <a:rPr lang="en-US" sz="66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前端错误与路由记录</a:t>
            </a:r>
            <a:endParaRPr lang="en-US" sz="6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DEPLOYMENT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安全与部署：真实 CloudBase 落地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078992"/>
            <a:ext cx="1700784" cy="1225296"/>
          </a:xfrm>
          <a:prstGeom prst="roundRect">
            <a:avLst>
              <a:gd name="adj" fmla="val 8955"/>
            </a:avLst>
          </a:prstGeom>
          <a:solidFill>
            <a:srgbClr val="F5F7F6"/>
          </a:solidFill>
          <a:ln w="8890">
            <a:solidFill>
              <a:srgbClr val="CFE5D8"/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9" name="Image 0" descr="云函数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09" y="1170432"/>
            <a:ext cx="1318223" cy="8046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2066544"/>
            <a:ext cx="15087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云函数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2560320" y="1078992"/>
            <a:ext cx="1700784" cy="1225296"/>
          </a:xfrm>
          <a:prstGeom prst="roundRect">
            <a:avLst>
              <a:gd name="adj" fmla="val 8955"/>
            </a:avLst>
          </a:prstGeom>
          <a:solidFill>
            <a:srgbClr val="F5F7F6"/>
          </a:solidFill>
          <a:ln w="8890">
            <a:solidFill>
              <a:srgbClr val="CFE5D8"/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2" name="Image 1" descr="数据库集合管理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2581" y="1170432"/>
            <a:ext cx="1376262" cy="8046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51760" y="2066544"/>
            <a:ext cx="15087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数据库集合</a:t>
            </a:r>
            <a:endParaRPr lang="en-US" sz="880" dirty="0"/>
          </a:p>
        </p:txBody>
      </p:sp>
      <p:sp>
        <p:nvSpPr>
          <p:cNvPr id="14" name="Shape 10"/>
          <p:cNvSpPr/>
          <p:nvPr/>
        </p:nvSpPr>
        <p:spPr>
          <a:xfrm>
            <a:off x="4553712" y="1078992"/>
            <a:ext cx="1700784" cy="1225296"/>
          </a:xfrm>
          <a:prstGeom prst="roundRect">
            <a:avLst>
              <a:gd name="adj" fmla="val 8955"/>
            </a:avLst>
          </a:prstGeom>
          <a:solidFill>
            <a:srgbClr val="F5F7F6"/>
          </a:solidFill>
          <a:ln w="8890">
            <a:solidFill>
              <a:srgbClr val="CFE5D8"/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5" name="Image 2" descr="数据权限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0952" y="1170432"/>
            <a:ext cx="1366303" cy="8046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45152" y="2066544"/>
            <a:ext cx="15087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数据权限</a:t>
            </a:r>
            <a:endParaRPr lang="en-US" sz="880" dirty="0"/>
          </a:p>
        </p:txBody>
      </p:sp>
      <p:sp>
        <p:nvSpPr>
          <p:cNvPr id="17" name="Shape 12"/>
          <p:cNvSpPr/>
          <p:nvPr/>
        </p:nvSpPr>
        <p:spPr>
          <a:xfrm>
            <a:off x="566928" y="2907792"/>
            <a:ext cx="1700784" cy="1225296"/>
          </a:xfrm>
          <a:prstGeom prst="roundRect">
            <a:avLst>
              <a:gd name="adj" fmla="val 8955"/>
            </a:avLst>
          </a:prstGeom>
          <a:solidFill>
            <a:srgbClr val="F5F7F6"/>
          </a:solidFill>
          <a:ln w="8890">
            <a:solidFill>
              <a:srgbClr val="CFE5D8"/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8" name="Image 3" descr="数据库调用总览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024" y="2999232"/>
            <a:ext cx="1372592" cy="8046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8368" y="3895344"/>
            <a:ext cx="15087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调用概览</a:t>
            </a:r>
            <a:endParaRPr lang="en-US" sz="880" dirty="0"/>
          </a:p>
        </p:txBody>
      </p:sp>
      <p:sp>
        <p:nvSpPr>
          <p:cNvPr id="20" name="Shape 14"/>
          <p:cNvSpPr/>
          <p:nvPr/>
        </p:nvSpPr>
        <p:spPr>
          <a:xfrm>
            <a:off x="2560320" y="2907792"/>
            <a:ext cx="1700784" cy="1225296"/>
          </a:xfrm>
          <a:prstGeom prst="roundRect">
            <a:avLst>
              <a:gd name="adj" fmla="val 8955"/>
            </a:avLst>
          </a:prstGeom>
          <a:solidFill>
            <a:srgbClr val="F5F7F6"/>
          </a:solidFill>
          <a:ln w="8890">
            <a:solidFill>
              <a:srgbClr val="CFE5D8"/>
            </a:solidFill>
            <a:prstDash val="solid"/>
          </a:ln>
          <a:effectLst>
            <a:outerShdw blurRad="19050" dist="10160" dir="27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1" name="Image 4" descr="存储管理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3044" y="2999232"/>
            <a:ext cx="1375336" cy="8046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651760" y="3895344"/>
            <a:ext cx="15087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云存储</a:t>
            </a:r>
            <a:endParaRPr lang="en-US" sz="880" dirty="0"/>
          </a:p>
        </p:txBody>
      </p:sp>
      <p:sp>
        <p:nvSpPr>
          <p:cNvPr id="23" name="Shape 16"/>
          <p:cNvSpPr/>
          <p:nvPr/>
        </p:nvSpPr>
        <p:spPr>
          <a:xfrm>
            <a:off x="6711696" y="1152144"/>
            <a:ext cx="1828800" cy="3401568"/>
          </a:xfrm>
          <a:prstGeom prst="roundRect">
            <a:avLst>
              <a:gd name="adj" fmla="val 9000"/>
            </a:avLst>
          </a:prstGeom>
          <a:solidFill>
            <a:srgbClr val="0F1F19"/>
          </a:solidFill>
          <a:ln w="8890">
            <a:solidFill>
              <a:srgbClr val="0F1F19"/>
            </a:solidFill>
            <a:prstDash val="solid"/>
          </a:ln>
          <a:effectLst>
            <a:outerShdw blurRad="19050" dist="1016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6967728" y="1444752"/>
            <a:ext cx="131673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三层防线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6967728" y="1956816"/>
            <a:ext cx="1298448" cy="1874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数据库仅创建者可读写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云函数服务端 OPENID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修改/删除前所有权校验</a:t>
            </a:r>
            <a:endParaRPr lang="en-US" sz="1020" dirty="0"/>
          </a:p>
          <a:p>
            <a:pPr marL="0" indent="0" algn="l">
              <a:buNone/>
            </a:pP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补充：内容安全、AI 限流、异常日志、导入导出、数据清除。</a:t>
            </a:r>
            <a:endParaRPr lang="en-US" sz="1020" dirty="0"/>
          </a:p>
        </p:txBody>
      </p:sp>
      <p:sp>
        <p:nvSpPr>
          <p:cNvPr id="26" name="Shape 19"/>
          <p:cNvSpPr/>
          <p:nvPr/>
        </p:nvSpPr>
        <p:spPr>
          <a:xfrm>
            <a:off x="6903720" y="4096512"/>
            <a:ext cx="1426464" cy="256032"/>
          </a:xfrm>
          <a:prstGeom prst="roundRect">
            <a:avLst>
              <a:gd name="adj" fmla="val 46429"/>
            </a:avLst>
          </a:prstGeom>
          <a:solidFill>
            <a:srgbClr val="25382F"/>
          </a:solidFill>
          <a:ln w="12700">
            <a:solidFill>
              <a:srgbClr val="25382F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976872" y="4151376"/>
            <a:ext cx="12801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 / 可追踪 / 可恢复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21031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橘记 Juji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1115568"/>
            <a:ext cx="41148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CFEF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让记账从工具，变成愿意坚持的生活陪伴。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2340864" cy="1993392"/>
          </a:xfrm>
          <a:prstGeom prst="roundRect">
            <a:avLst>
              <a:gd name="adj" fmla="val 9174"/>
            </a:avLst>
          </a:prstGeom>
          <a:solidFill>
            <a:srgbClr val="193029"/>
          </a:solidFill>
          <a:ln w="8890">
            <a:solidFill>
              <a:srgbClr val="2D4D41"/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121408"/>
            <a:ext cx="329184" cy="329184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112264"/>
            <a:ext cx="111556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产品价值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633472"/>
            <a:ext cx="18288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低阻力记账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预算提醒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统计复盘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成长陪伴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3447288" y="1874520"/>
            <a:ext cx="2340864" cy="1993392"/>
          </a:xfrm>
          <a:prstGeom prst="roundRect">
            <a:avLst>
              <a:gd name="adj" fmla="val 9174"/>
            </a:avLst>
          </a:prstGeom>
          <a:solidFill>
            <a:srgbClr val="25382F"/>
          </a:solidFill>
          <a:ln w="8890">
            <a:solidFill>
              <a:srgbClr val="2D4D41"/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21608" y="2121408"/>
            <a:ext cx="329184" cy="329184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2112264"/>
            <a:ext cx="111556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技术价值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03320" y="2633472"/>
            <a:ext cx="18288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原生小程序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CloudBase Serverless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混元大模型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权限与安全防线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236208" y="1874520"/>
            <a:ext cx="2340864" cy="1993392"/>
          </a:xfrm>
          <a:prstGeom prst="roundRect">
            <a:avLst>
              <a:gd name="adj" fmla="val 9174"/>
            </a:avLst>
          </a:prstGeom>
          <a:solidFill>
            <a:srgbClr val="193029"/>
          </a:solidFill>
          <a:ln w="8890">
            <a:solidFill>
              <a:srgbClr val="2D4D41"/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10528" y="2121408"/>
            <a:ext cx="329184" cy="329184"/>
          </a:xfrm>
          <a:prstGeom prst="ellipse">
            <a:avLst/>
          </a:prstGeom>
          <a:solidFill>
            <a:srgbClr val="5BA4CB"/>
          </a:solidFill>
          <a:ln w="12700">
            <a:solidFill>
              <a:srgbClr val="5BA4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2112264"/>
            <a:ext cx="111556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未来规划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2633472"/>
            <a:ext cx="18288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OCR 票据识别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更细预算建议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多维消费报告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更丰富的小橘人格</a:t>
            </a:r>
            <a:endParaRPr lang="en-US" sz="1120" dirty="0"/>
          </a:p>
        </p:txBody>
      </p:sp>
      <p:pic>
        <p:nvPicPr>
          <p:cNvPr id="18" name="Image 0" descr="小橘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656" y="585216"/>
            <a:ext cx="868680" cy="9144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401568" y="4407408"/>
            <a:ext cx="22860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798</Words>
  <Application>Microsoft Office PowerPoint</Application>
  <PresentationFormat>全屏显示(16:9)</PresentationFormat>
  <Paragraphs>333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橘记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橘记 Juji - 大模型驱动的对话式智能记账微信小程序</dc:title>
  <dc:subject>竞赛路演汇报</dc:subject>
  <dc:creator>橘记 Juji</dc:creator>
  <cp:lastModifiedBy>cheng wei Liang</cp:lastModifiedBy>
  <cp:revision>6</cp:revision>
  <dcterms:created xsi:type="dcterms:W3CDTF">2026-06-13T12:12:31Z</dcterms:created>
  <dcterms:modified xsi:type="dcterms:W3CDTF">2026-06-13T13:14:37Z</dcterms:modified>
</cp:coreProperties>
</file>